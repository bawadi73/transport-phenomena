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what do a tennis ball, a cooking pot, and a distillation column have in common? Park the question — it gets answered in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2 is the one that matters. If they leave understanding only that, the chapter has done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widget here. Flatten the gradient slider — all three fluxes go to zero together. That single demonstration is the chapter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name a unit operation where only one mode is active. It is a harder question than it sounds —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minus sign: transport runs down the gradient. That is the second law appearing inside a constitutive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visualiser with engine oil selected — momentum runs away while mass barely moves. Then switch to mercury, where heat outruns momentum and Pr drops below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Reinforce that the minus sign means heat runs from hot to cold, never the reverse. Option D is worth addressing directly — conduction in solids is the cleanest case of diffusive transport there is, precisely because no bulk motion complicates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Pr well below 1 means alpha is much larger than nu, so heat penetrates further than momentum — the thermal layer is thicker. Liquid metals sit here; mercury has Pr around 0.025. Worth running the diffusivity visualiser on the mercury setting at this point. A common wrong path is students reading Pr &lt; 1 as "less heat transfer" rather than "heat diffuses faster relative to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square-root dependence is the point: quadrupling the diffusivity only doubles the penetration depth. Students who answer A have applied a linear relationship and this is the moment to correct it, because the same square-root scaling governs every unsteady penetration problem they will meet for the rest of the course. Follow up by asking how much longer the slower gas needs to reach the same depth — the answer is four times as long, and that asymmetry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A is a five-minute check that the core idea landed. Task B takes longer and rewards care — the oil case gives a ratio near 1500, which surprises them enough to make the square-root scaling memorable. Collect the tables at the start of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bawadi73.github.io/transport-phenomena/transport-analogy.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bawadi73.github.io/transport-phenomena/diffusivity-race.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bawadi73/transport-phenomena"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bawadi73/transport-phenomena"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C"/>
        </a:solidFill>
      </p:bgPr>
    </p:bg>
    <p:spTree>
      <p:nvGrpSpPr>
        <p:cNvPr id="1" name=""/>
        <p:cNvGrpSpPr/>
        <p:nvPr/>
      </p:nvGrpSpPr>
      <p:grpSpPr>
        <a:xfrm>
          <a:off x="0" y="0"/>
          <a:ext cx="0" cy="0"/>
          <a:chOff x="0" y="0"/>
          <a:chExt cx="0" cy="0"/>
        </a:xfrm>
      </p:grpSpPr>
      <p:sp>
        <p:nvSpPr>
          <p:cNvPr id="2" name="Text 0"/>
          <p:cNvSpPr/>
          <p:nvPr/>
        </p:nvSpPr>
        <p:spPr>
          <a:xfrm>
            <a:off x="822960" y="1828800"/>
            <a:ext cx="7315200" cy="457200"/>
          </a:xfrm>
          <a:prstGeom prst="rect">
            <a:avLst/>
          </a:prstGeom>
          <a:noFill/>
          <a:ln/>
        </p:spPr>
        <p:txBody>
          <a:bodyPr wrap="square" lIns="0" tIns="0" rIns="0" bIns="0" rtlCol="0" anchor="ctr"/>
          <a:lstStyle/>
          <a:p>
            <a:pPr indent="0" marL="0">
              <a:buNone/>
            </a:pPr>
            <a:r>
              <a:rPr lang="en-US" sz="1500" b="1" spc="400" kern="0" dirty="0">
                <a:solidFill>
                  <a:srgbClr val="5FC4D6"/>
                </a:solidFill>
                <a:latin typeface="Calibri" pitchFamily="34" charset="0"/>
                <a:ea typeface="Calibri" pitchFamily="34" charset="-122"/>
                <a:cs typeface="Calibri" pitchFamily="34" charset="-120"/>
              </a:rPr>
              <a:t>CEB 4053</a:t>
            </a:r>
            <a:endParaRPr lang="en-US" sz="1500" dirty="0"/>
          </a:p>
        </p:txBody>
      </p:sp>
      <p:sp>
        <p:nvSpPr>
          <p:cNvPr id="3" name="Text 1"/>
          <p:cNvSpPr/>
          <p:nvPr/>
        </p:nvSpPr>
        <p:spPr>
          <a:xfrm>
            <a:off x="777240" y="2286000"/>
            <a:ext cx="8229600" cy="1828800"/>
          </a:xfrm>
          <a:prstGeom prst="rect">
            <a:avLst/>
          </a:prstGeom>
          <a:noFill/>
          <a:ln/>
        </p:spPr>
        <p:txBody>
          <a:bodyPr wrap="square" lIns="0" tIns="0" rIns="0" bIns="0" rtlCol="0" anchor="ctr"/>
          <a:lstStyle/>
          <a:p>
            <a:pPr indent="0" marL="0">
              <a:lnSpc>
                <a:spcPts val="5800"/>
              </a:lnSpc>
              <a:buNone/>
            </a:pPr>
            <a:r>
              <a:rPr lang="en-US" sz="5600" b="1" dirty="0">
                <a:solidFill>
                  <a:srgbClr val="FFFFFF"/>
                </a:solidFill>
                <a:latin typeface="Cambria" pitchFamily="34" charset="0"/>
                <a:ea typeface="Cambria" pitchFamily="34" charset="-122"/>
                <a:cs typeface="Cambria" pitchFamily="34" charset="-120"/>
              </a:rPr>
              <a:t>Transport</a:t>
            </a:r>
            <a:endParaRPr lang="en-US" sz="5600" dirty="0"/>
          </a:p>
          <a:p>
            <a:pPr indent="0" marL="0">
              <a:lnSpc>
                <a:spcPts val="5800"/>
              </a:lnSpc>
              <a:buNone/>
            </a:pPr>
            <a:r>
              <a:rPr lang="en-US" sz="5600" b="1" dirty="0">
                <a:solidFill>
                  <a:srgbClr val="FFFFFF"/>
                </a:solidFill>
                <a:latin typeface="Cambria" pitchFamily="34" charset="0"/>
                <a:ea typeface="Cambria" pitchFamily="34" charset="-122"/>
                <a:cs typeface="Cambria" pitchFamily="34" charset="-120"/>
              </a:rPr>
              <a:t>Phenomena</a:t>
            </a:r>
            <a:endParaRPr lang="en-US" sz="5600" dirty="0"/>
          </a:p>
        </p:txBody>
      </p:sp>
      <p:sp>
        <p:nvSpPr>
          <p:cNvPr id="4" name="Text 2"/>
          <p:cNvSpPr/>
          <p:nvPr/>
        </p:nvSpPr>
        <p:spPr>
          <a:xfrm>
            <a:off x="822960" y="4206240"/>
            <a:ext cx="7315200" cy="365760"/>
          </a:xfrm>
          <a:prstGeom prst="rect">
            <a:avLst/>
          </a:prstGeom>
          <a:noFill/>
          <a:ln/>
        </p:spPr>
        <p:txBody>
          <a:bodyPr wrap="square" lIns="0" tIns="0" rIns="0" bIns="0" rtlCol="0" anchor="ctr"/>
          <a:lstStyle/>
          <a:p>
            <a:pPr indent="0" marL="0">
              <a:buNone/>
            </a:pPr>
            <a:r>
              <a:rPr lang="en-US" sz="2000" dirty="0">
                <a:solidFill>
                  <a:srgbClr val="A8B6C2"/>
                </a:solidFill>
                <a:latin typeface="Calibri" pitchFamily="34" charset="0"/>
                <a:ea typeface="Calibri" pitchFamily="34" charset="-122"/>
                <a:cs typeface="Calibri" pitchFamily="34" charset="-120"/>
              </a:rPr>
              <a:t>Chapter 1  ·  Introduction</a:t>
            </a:r>
            <a:endParaRPr lang="en-US" sz="2000" dirty="0"/>
          </a:p>
        </p:txBody>
      </p:sp>
      <p:sp>
        <p:nvSpPr>
          <p:cNvPr id="5" name="Shape 3"/>
          <p:cNvSpPr/>
          <p:nvPr/>
        </p:nvSpPr>
        <p:spPr>
          <a:xfrm>
            <a:off x="822960" y="4983480"/>
            <a:ext cx="1280160" cy="54864"/>
          </a:xfrm>
          <a:prstGeom prst="rect">
            <a:avLst/>
          </a:prstGeom>
          <a:solidFill>
            <a:srgbClr val="5FC4D6"/>
          </a:solidFill>
          <a:ln/>
        </p:spPr>
      </p:sp>
      <p:sp>
        <p:nvSpPr>
          <p:cNvPr id="6" name="Text 4"/>
          <p:cNvSpPr/>
          <p:nvPr/>
        </p:nvSpPr>
        <p:spPr>
          <a:xfrm>
            <a:off x="822960" y="5102352"/>
            <a:ext cx="1463040" cy="274320"/>
          </a:xfrm>
          <a:prstGeom prst="rect">
            <a:avLst/>
          </a:prstGeom>
          <a:noFill/>
          <a:ln/>
        </p:spPr>
        <p:txBody>
          <a:bodyPr wrap="square" lIns="0" tIns="0" rIns="0" bIns="0" rtlCol="0" anchor="ctr"/>
          <a:lstStyle/>
          <a:p>
            <a:pPr indent="0" marL="0">
              <a:buNone/>
            </a:pPr>
            <a:r>
              <a:rPr lang="en-US" sz="1100" dirty="0">
                <a:solidFill>
                  <a:srgbClr val="8FA0AE"/>
                </a:solidFill>
                <a:latin typeface="Calibri" pitchFamily="34" charset="0"/>
                <a:ea typeface="Calibri" pitchFamily="34" charset="-122"/>
                <a:cs typeface="Calibri" pitchFamily="34" charset="-120"/>
              </a:rPr>
              <a:t>Momentum</a:t>
            </a:r>
            <a:endParaRPr lang="en-US" sz="1100" dirty="0"/>
          </a:p>
        </p:txBody>
      </p:sp>
      <p:sp>
        <p:nvSpPr>
          <p:cNvPr id="7" name="Shape 5"/>
          <p:cNvSpPr/>
          <p:nvPr/>
        </p:nvSpPr>
        <p:spPr>
          <a:xfrm>
            <a:off x="2423160" y="4983480"/>
            <a:ext cx="1280160" cy="54864"/>
          </a:xfrm>
          <a:prstGeom prst="rect">
            <a:avLst/>
          </a:prstGeom>
          <a:solidFill>
            <a:srgbClr val="F0865C"/>
          </a:solidFill>
          <a:ln/>
        </p:spPr>
      </p:sp>
      <p:sp>
        <p:nvSpPr>
          <p:cNvPr id="8" name="Text 6"/>
          <p:cNvSpPr/>
          <p:nvPr/>
        </p:nvSpPr>
        <p:spPr>
          <a:xfrm>
            <a:off x="2423160" y="5102352"/>
            <a:ext cx="1463040" cy="274320"/>
          </a:xfrm>
          <a:prstGeom prst="rect">
            <a:avLst/>
          </a:prstGeom>
          <a:noFill/>
          <a:ln/>
        </p:spPr>
        <p:txBody>
          <a:bodyPr wrap="square" lIns="0" tIns="0" rIns="0" bIns="0" rtlCol="0" anchor="ctr"/>
          <a:lstStyle/>
          <a:p>
            <a:pPr indent="0" marL="0">
              <a:buNone/>
            </a:pPr>
            <a:r>
              <a:rPr lang="en-US" sz="1100" dirty="0">
                <a:solidFill>
                  <a:srgbClr val="8FA0AE"/>
                </a:solidFill>
                <a:latin typeface="Calibri" pitchFamily="34" charset="0"/>
                <a:ea typeface="Calibri" pitchFamily="34" charset="-122"/>
                <a:cs typeface="Calibri" pitchFamily="34" charset="-120"/>
              </a:rPr>
              <a:t>Heat</a:t>
            </a:r>
            <a:endParaRPr lang="en-US" sz="1100" dirty="0"/>
          </a:p>
        </p:txBody>
      </p:sp>
      <p:sp>
        <p:nvSpPr>
          <p:cNvPr id="9" name="Shape 7"/>
          <p:cNvSpPr/>
          <p:nvPr/>
        </p:nvSpPr>
        <p:spPr>
          <a:xfrm>
            <a:off x="4023360" y="4983480"/>
            <a:ext cx="1280160" cy="54864"/>
          </a:xfrm>
          <a:prstGeom prst="rect">
            <a:avLst/>
          </a:prstGeom>
          <a:solidFill>
            <a:srgbClr val="A78FE0"/>
          </a:solidFill>
          <a:ln/>
        </p:spPr>
      </p:sp>
      <p:sp>
        <p:nvSpPr>
          <p:cNvPr id="10" name="Text 8"/>
          <p:cNvSpPr/>
          <p:nvPr/>
        </p:nvSpPr>
        <p:spPr>
          <a:xfrm>
            <a:off x="4023360" y="5102352"/>
            <a:ext cx="1463040" cy="274320"/>
          </a:xfrm>
          <a:prstGeom prst="rect">
            <a:avLst/>
          </a:prstGeom>
          <a:noFill/>
          <a:ln/>
        </p:spPr>
        <p:txBody>
          <a:bodyPr wrap="square" lIns="0" tIns="0" rIns="0" bIns="0" rtlCol="0" anchor="ctr"/>
          <a:lstStyle/>
          <a:p>
            <a:pPr indent="0" marL="0">
              <a:buNone/>
            </a:pPr>
            <a:r>
              <a:rPr lang="en-US" sz="1100" dirty="0">
                <a:solidFill>
                  <a:srgbClr val="8FA0AE"/>
                </a:solidFill>
                <a:latin typeface="Calibri" pitchFamily="34" charset="0"/>
                <a:ea typeface="Calibri" pitchFamily="34" charset="-122"/>
                <a:cs typeface="Calibri" pitchFamily="34" charset="-120"/>
              </a:rPr>
              <a:t>Mass</a:t>
            </a:r>
            <a:endParaRPr lang="en-US" sz="1100" dirty="0"/>
          </a:p>
        </p:txBody>
      </p:sp>
      <p:sp>
        <p:nvSpPr>
          <p:cNvPr id="11" name="Text 9"/>
          <p:cNvSpPr/>
          <p:nvPr/>
        </p:nvSpPr>
        <p:spPr>
          <a:xfrm>
            <a:off x="822960" y="6035040"/>
            <a:ext cx="9144000" cy="274320"/>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Department of Chemical Engineering  ·  Universiti Teknologi PETRONAS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THE PREMISE</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Three subjects you already know — taught as one</a:t>
            </a:r>
            <a:endParaRPr lang="en-US" sz="3200" dirty="0"/>
          </a:p>
        </p:txBody>
      </p:sp>
      <p:sp>
        <p:nvSpPr>
          <p:cNvPr id="4" name="Text 2"/>
          <p:cNvSpPr/>
          <p:nvPr/>
        </p:nvSpPr>
        <p:spPr>
          <a:xfrm>
            <a:off x="548640" y="1463040"/>
            <a:ext cx="10881360" cy="822960"/>
          </a:xfrm>
          <a:prstGeom prst="rect">
            <a:avLst/>
          </a:prstGeom>
          <a:noFill/>
          <a:ln/>
        </p:spPr>
        <p:txBody>
          <a:bodyPr wrap="square" lIns="0" tIns="0" rIns="0" bIns="0" rtlCol="0" anchor="ctr"/>
          <a:lstStyle/>
          <a:p>
            <a:pPr indent="0" marL="0">
              <a:lnSpc>
                <a:spcPts val="2400"/>
              </a:lnSpc>
              <a:buNone/>
            </a:pPr>
            <a:r>
              <a:rPr lang="en-US" sz="1600" dirty="0">
                <a:solidFill>
                  <a:srgbClr val="2B3947"/>
                </a:solidFill>
                <a:latin typeface="Calibri" pitchFamily="34" charset="0"/>
                <a:ea typeface="Calibri" pitchFamily="34" charset="-122"/>
                <a:cs typeface="Calibri" pitchFamily="34" charset="-120"/>
              </a:rPr>
              <a:t>You have studied fluid mechanics, heat transfer, and mass transfer as separate courses. This chapter argues they are three readings of a single physical idea, and that recognising it saves you from solving the same problem three times.</a:t>
            </a:r>
            <a:endParaRPr lang="en-US" sz="1600" dirty="0"/>
          </a:p>
        </p:txBody>
      </p:sp>
      <p:sp>
        <p:nvSpPr>
          <p:cNvPr id="5" name="Shape 3"/>
          <p:cNvSpPr/>
          <p:nvPr/>
        </p:nvSpPr>
        <p:spPr>
          <a:xfrm>
            <a:off x="548640" y="2651760"/>
            <a:ext cx="457200" cy="457200"/>
          </a:xfrm>
          <a:prstGeom prst="ellipse">
            <a:avLst/>
          </a:prstGeom>
          <a:solidFill>
            <a:srgbClr val="13202C"/>
          </a:solidFill>
          <a:ln/>
        </p:spPr>
      </p:sp>
      <p:sp>
        <p:nvSpPr>
          <p:cNvPr id="6" name="Text 4"/>
          <p:cNvSpPr/>
          <p:nvPr/>
        </p:nvSpPr>
        <p:spPr>
          <a:xfrm>
            <a:off x="548640" y="2651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234440" y="2651760"/>
            <a:ext cx="10058400" cy="548640"/>
          </a:xfrm>
          <a:prstGeom prst="rect">
            <a:avLst/>
          </a:prstGeom>
          <a:noFill/>
          <a:ln/>
        </p:spPr>
        <p:txBody>
          <a:bodyPr wrap="square" lIns="0" tIns="0" rIns="0" bIns="0" rtlCol="0" anchor="ctr"/>
          <a:lstStyle/>
          <a:p>
            <a:pPr indent="0" marL="0">
              <a:buNone/>
            </a:pPr>
            <a:r>
              <a:rPr lang="en-US" sz="1600" dirty="0">
                <a:solidFill>
                  <a:srgbClr val="2B3947"/>
                </a:solidFill>
                <a:latin typeface="Calibri" pitchFamily="34" charset="0"/>
                <a:ea typeface="Calibri" pitchFamily="34" charset="-122"/>
                <a:cs typeface="Calibri" pitchFamily="34" charset="-120"/>
              </a:rPr>
              <a:t>Explain the importance and the general concept of Transport Phenomena.</a:t>
            </a:r>
            <a:endParaRPr lang="en-US" sz="1600" dirty="0"/>
          </a:p>
        </p:txBody>
      </p:sp>
      <p:sp>
        <p:nvSpPr>
          <p:cNvPr id="8" name="Shape 6"/>
          <p:cNvSpPr/>
          <p:nvPr/>
        </p:nvSpPr>
        <p:spPr>
          <a:xfrm>
            <a:off x="548640" y="3703320"/>
            <a:ext cx="457200" cy="457200"/>
          </a:xfrm>
          <a:prstGeom prst="ellipse">
            <a:avLst/>
          </a:prstGeom>
          <a:solidFill>
            <a:srgbClr val="13202C"/>
          </a:solidFill>
          <a:ln/>
        </p:spPr>
      </p:sp>
      <p:sp>
        <p:nvSpPr>
          <p:cNvPr id="9" name="Text 7"/>
          <p:cNvSpPr/>
          <p:nvPr/>
        </p:nvSpPr>
        <p:spPr>
          <a:xfrm>
            <a:off x="548640" y="37033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0" name="Text 8"/>
          <p:cNvSpPr/>
          <p:nvPr/>
        </p:nvSpPr>
        <p:spPr>
          <a:xfrm>
            <a:off x="1234440" y="3703320"/>
            <a:ext cx="10058400" cy="548640"/>
          </a:xfrm>
          <a:prstGeom prst="rect">
            <a:avLst/>
          </a:prstGeom>
          <a:noFill/>
          <a:ln/>
        </p:spPr>
        <p:txBody>
          <a:bodyPr wrap="square" lIns="0" tIns="0" rIns="0" bIns="0" rtlCol="0" anchor="ctr"/>
          <a:lstStyle/>
          <a:p>
            <a:pPr indent="0" marL="0">
              <a:buNone/>
            </a:pPr>
            <a:r>
              <a:rPr lang="en-US" sz="1600" dirty="0">
                <a:solidFill>
                  <a:srgbClr val="2B3947"/>
                </a:solidFill>
                <a:latin typeface="Calibri" pitchFamily="34" charset="0"/>
                <a:ea typeface="Calibri" pitchFamily="34" charset="-122"/>
                <a:cs typeface="Calibri" pitchFamily="34" charset="-120"/>
              </a:rPr>
              <a:t>Explain the similarity between momentum, energy, and mass transport processes.</a:t>
            </a:r>
            <a:endParaRPr lang="en-US" sz="1600" dirty="0"/>
          </a:p>
        </p:txBody>
      </p:sp>
      <p:sp>
        <p:nvSpPr>
          <p:cNvPr id="11" name="Shape 9"/>
          <p:cNvSpPr/>
          <p:nvPr/>
        </p:nvSpPr>
        <p:spPr>
          <a:xfrm>
            <a:off x="548640" y="4754880"/>
            <a:ext cx="457200" cy="457200"/>
          </a:xfrm>
          <a:prstGeom prst="ellipse">
            <a:avLst/>
          </a:prstGeom>
          <a:solidFill>
            <a:srgbClr val="13202C"/>
          </a:solidFill>
          <a:ln/>
        </p:spPr>
      </p:sp>
      <p:sp>
        <p:nvSpPr>
          <p:cNvPr id="12" name="Text 10"/>
          <p:cNvSpPr/>
          <p:nvPr/>
        </p:nvSpPr>
        <p:spPr>
          <a:xfrm>
            <a:off x="548640" y="475488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3" name="Text 11"/>
          <p:cNvSpPr/>
          <p:nvPr/>
        </p:nvSpPr>
        <p:spPr>
          <a:xfrm>
            <a:off x="1234440" y="4754880"/>
            <a:ext cx="10058400" cy="548640"/>
          </a:xfrm>
          <a:prstGeom prst="rect">
            <a:avLst/>
          </a:prstGeom>
          <a:noFill/>
          <a:ln/>
        </p:spPr>
        <p:txBody>
          <a:bodyPr wrap="square" lIns="0" tIns="0" rIns="0" bIns="0" rtlCol="0" anchor="ctr"/>
          <a:lstStyle/>
          <a:p>
            <a:pPr indent="0" marL="0">
              <a:buNone/>
            </a:pPr>
            <a:r>
              <a:rPr lang="en-US" sz="1600" dirty="0">
                <a:solidFill>
                  <a:srgbClr val="2B3947"/>
                </a:solidFill>
                <a:latin typeface="Calibri" pitchFamily="34" charset="0"/>
                <a:ea typeface="Calibri" pitchFamily="34" charset="-122"/>
                <a:cs typeface="Calibri" pitchFamily="34" charset="-120"/>
              </a:rPr>
              <a:t>Derive general transport equations for momentum, energy, and mass transport.</a:t>
            </a:r>
            <a:endParaRPr lang="en-US" sz="1600" dirty="0"/>
          </a:p>
        </p:txBody>
      </p:sp>
      <p:sp>
        <p:nvSpPr>
          <p:cNvPr id="14" name="Text 12"/>
          <p:cNvSpPr/>
          <p:nvPr/>
        </p:nvSpPr>
        <p:spPr>
          <a:xfrm>
            <a:off x="548640" y="2240280"/>
            <a:ext cx="7315200" cy="27432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Learning outcomes for this chapter</a:t>
            </a:r>
            <a:endParaRPr lang="en-US" sz="1100" dirty="0"/>
          </a:p>
        </p:txBody>
      </p:sp>
      <p:sp>
        <p:nvSpPr>
          <p:cNvPr id="15" name="Text 13"/>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ACCREDITATION</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How this maps to your programme</a:t>
            </a:r>
            <a:endParaRPr lang="en-US" sz="3200" dirty="0"/>
          </a:p>
        </p:txBody>
      </p:sp>
      <p:sp>
        <p:nvSpPr>
          <p:cNvPr id="4" name="Shape 2"/>
          <p:cNvSpPr/>
          <p:nvPr/>
        </p:nvSpPr>
        <p:spPr>
          <a:xfrm>
            <a:off x="548640" y="1600200"/>
            <a:ext cx="5257800" cy="3291840"/>
          </a:xfrm>
          <a:prstGeom prst="rect">
            <a:avLst/>
          </a:prstGeom>
          <a:solidFill>
            <a:srgbClr val="F4F6F8"/>
          </a:solidFill>
          <a:ln/>
        </p:spPr>
      </p:sp>
      <p:sp>
        <p:nvSpPr>
          <p:cNvPr id="5" name="Text 3"/>
          <p:cNvSpPr/>
          <p:nvPr/>
        </p:nvSpPr>
        <p:spPr>
          <a:xfrm>
            <a:off x="868680" y="1874520"/>
            <a:ext cx="2743200" cy="320040"/>
          </a:xfrm>
          <a:prstGeom prst="rect">
            <a:avLst/>
          </a:prstGeom>
          <a:noFill/>
          <a:ln/>
        </p:spPr>
        <p:txBody>
          <a:bodyPr wrap="square" lIns="0" tIns="0" rIns="0" bIns="0" rtlCol="0" anchor="ctr"/>
          <a:lstStyle/>
          <a:p>
            <a:pPr indent="0" marL="0">
              <a:buNone/>
            </a:pPr>
            <a:r>
              <a:rPr lang="en-US" sz="1200" b="1" spc="200" kern="0" dirty="0">
                <a:solidFill>
                  <a:srgbClr val="2E8B9E"/>
                </a:solidFill>
                <a:latin typeface="Calibri" pitchFamily="34" charset="0"/>
                <a:ea typeface="Calibri" pitchFamily="34" charset="-122"/>
                <a:cs typeface="Calibri" pitchFamily="34" charset="-120"/>
              </a:rPr>
              <a:t>CLO 1</a:t>
            </a:r>
            <a:endParaRPr lang="en-US" sz="1200" dirty="0"/>
          </a:p>
        </p:txBody>
      </p:sp>
      <p:sp>
        <p:nvSpPr>
          <p:cNvPr id="6" name="Text 4"/>
          <p:cNvSpPr/>
          <p:nvPr/>
        </p:nvSpPr>
        <p:spPr>
          <a:xfrm>
            <a:off x="868680" y="2286000"/>
            <a:ext cx="4663440" cy="1097280"/>
          </a:xfrm>
          <a:prstGeom prst="rect">
            <a:avLst/>
          </a:prstGeom>
          <a:noFill/>
          <a:ln/>
        </p:spPr>
        <p:txBody>
          <a:bodyPr wrap="square" lIns="0" tIns="0" rIns="0" bIns="0" rtlCol="0" anchor="ctr"/>
          <a:lstStyle/>
          <a:p>
            <a:pPr indent="0" marL="0">
              <a:lnSpc>
                <a:spcPts val="2600"/>
              </a:lnSpc>
              <a:buNone/>
            </a:pPr>
            <a:r>
              <a:rPr lang="en-US" sz="1900" dirty="0">
                <a:solidFill>
                  <a:srgbClr val="13202C"/>
                </a:solidFill>
                <a:latin typeface="Cambria" pitchFamily="34" charset="0"/>
                <a:ea typeface="Cambria" pitchFamily="34" charset="-122"/>
                <a:cs typeface="Cambria" pitchFamily="34" charset="-120"/>
              </a:rPr>
              <a:t>Explain the theoretical aspect of momentum, mass and energy transport.</a:t>
            </a:r>
            <a:endParaRPr lang="en-US" sz="1900" dirty="0"/>
          </a:p>
        </p:txBody>
      </p:sp>
      <p:sp>
        <p:nvSpPr>
          <p:cNvPr id="7" name="Text 5"/>
          <p:cNvSpPr/>
          <p:nvPr/>
        </p:nvSpPr>
        <p:spPr>
          <a:xfrm>
            <a:off x="868680" y="3977640"/>
            <a:ext cx="4663440" cy="640080"/>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Assessed through: derivations, problem sets, and the final examination.</a:t>
            </a:r>
            <a:endParaRPr lang="en-US" sz="1300" dirty="0"/>
          </a:p>
        </p:txBody>
      </p:sp>
      <p:sp>
        <p:nvSpPr>
          <p:cNvPr id="8" name="Shape 6"/>
          <p:cNvSpPr/>
          <p:nvPr/>
        </p:nvSpPr>
        <p:spPr>
          <a:xfrm>
            <a:off x="6355080" y="1600200"/>
            <a:ext cx="5257800" cy="3291840"/>
          </a:xfrm>
          <a:prstGeom prst="rect">
            <a:avLst/>
          </a:prstGeom>
          <a:solidFill>
            <a:srgbClr val="13202C"/>
          </a:solidFill>
          <a:ln/>
        </p:spPr>
      </p:sp>
      <p:sp>
        <p:nvSpPr>
          <p:cNvPr id="9" name="Text 7"/>
          <p:cNvSpPr/>
          <p:nvPr/>
        </p:nvSpPr>
        <p:spPr>
          <a:xfrm>
            <a:off x="6675120" y="1874520"/>
            <a:ext cx="2743200" cy="320040"/>
          </a:xfrm>
          <a:prstGeom prst="rect">
            <a:avLst/>
          </a:prstGeom>
          <a:noFill/>
          <a:ln/>
        </p:spPr>
        <p:txBody>
          <a:bodyPr wrap="square" lIns="0" tIns="0" rIns="0" bIns="0" rtlCol="0" anchor="ctr"/>
          <a:lstStyle/>
          <a:p>
            <a:pPr indent="0" marL="0">
              <a:buNone/>
            </a:pPr>
            <a:r>
              <a:rPr lang="en-US" sz="1200" b="1" spc="200" kern="0" dirty="0">
                <a:solidFill>
                  <a:srgbClr val="5FC4D6"/>
                </a:solidFill>
                <a:latin typeface="Calibri" pitchFamily="34" charset="0"/>
                <a:ea typeface="Calibri" pitchFamily="34" charset="-122"/>
                <a:cs typeface="Calibri" pitchFamily="34" charset="-120"/>
              </a:rPr>
              <a:t>PO 1</a:t>
            </a:r>
            <a:endParaRPr lang="en-US" sz="1200" dirty="0"/>
          </a:p>
        </p:txBody>
      </p:sp>
      <p:sp>
        <p:nvSpPr>
          <p:cNvPr id="10" name="Text 8"/>
          <p:cNvSpPr/>
          <p:nvPr/>
        </p:nvSpPr>
        <p:spPr>
          <a:xfrm>
            <a:off x="6675120" y="2286000"/>
            <a:ext cx="4663440" cy="155448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mbria" pitchFamily="34" charset="0"/>
                <a:ea typeface="Cambria" pitchFamily="34" charset="-122"/>
                <a:cs typeface="Cambria" pitchFamily="34" charset="-120"/>
              </a:rPr>
              <a:t>Apply knowledge of mathematics, science and engineering fundamentals to the solution of complex chemical engineering problems.</a:t>
            </a:r>
            <a:endParaRPr lang="en-US" sz="1700" dirty="0"/>
          </a:p>
        </p:txBody>
      </p:sp>
      <p:sp>
        <p:nvSpPr>
          <p:cNvPr id="11" name="Text 9"/>
          <p:cNvSpPr/>
          <p:nvPr/>
        </p:nvSpPr>
        <p:spPr>
          <a:xfrm>
            <a:off x="6675120" y="4114800"/>
            <a:ext cx="4663440" cy="502920"/>
          </a:xfrm>
          <a:prstGeom prst="rect">
            <a:avLst/>
          </a:prstGeom>
          <a:noFill/>
          <a:ln/>
        </p:spPr>
        <p:txBody>
          <a:bodyPr wrap="square" lIns="0" tIns="0" rIns="0" bIns="0" rtlCol="0" anchor="ctr"/>
          <a:lstStyle/>
          <a:p>
            <a:pPr indent="0" marL="0">
              <a:buNone/>
            </a:pPr>
            <a:r>
              <a:rPr lang="en-US" sz="1300" dirty="0">
                <a:solidFill>
                  <a:srgbClr val="8FA0AE"/>
                </a:solidFill>
                <a:latin typeface="Calibri" pitchFamily="34" charset="0"/>
                <a:ea typeface="Calibri" pitchFamily="34" charset="-122"/>
                <a:cs typeface="Calibri" pitchFamily="34" charset="-120"/>
              </a:rPr>
              <a:t>Programme outcome, Washington Accord alignment.</a:t>
            </a:r>
            <a:endParaRPr lang="en-US" sz="1300" dirty="0"/>
          </a:p>
        </p:txBody>
      </p:sp>
      <p:sp>
        <p:nvSpPr>
          <p:cNvPr id="12" name="Text 1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02C"/>
        </a:solidFill>
      </p:bgPr>
    </p:bg>
    <p:spTree>
      <p:nvGrpSpPr>
        <p:cNvPr id="1" name=""/>
        <p:cNvGrpSpPr/>
        <p:nvPr/>
      </p:nvGrpSpPr>
      <p:grpSpPr>
        <a:xfrm>
          <a:off x="0" y="0"/>
          <a:ext cx="0" cy="0"/>
          <a:chOff x="0" y="0"/>
          <a:chExt cx="0" cy="0"/>
        </a:xfrm>
      </p:grpSpPr>
      <p:sp>
        <p:nvSpPr>
          <p:cNvPr id="2" name="Text 0"/>
          <p:cNvSpPr/>
          <p:nvPr/>
        </p:nvSpPr>
        <p:spPr>
          <a:xfrm>
            <a:off x="777240" y="822960"/>
            <a:ext cx="7315200" cy="274320"/>
          </a:xfrm>
          <a:prstGeom prst="rect">
            <a:avLst/>
          </a:prstGeom>
          <a:noFill/>
          <a:ln/>
        </p:spPr>
        <p:txBody>
          <a:bodyPr wrap="square" lIns="0" tIns="0" rIns="0" bIns="0" rtlCol="0" anchor="ctr"/>
          <a:lstStyle/>
          <a:p>
            <a:pPr indent="0" marL="0">
              <a:buNone/>
            </a:pPr>
            <a:r>
              <a:rPr lang="en-US" sz="1100" b="1" spc="200" kern="0" dirty="0">
                <a:solidFill>
                  <a:srgbClr val="5FC4D6"/>
                </a:solidFill>
                <a:latin typeface="Calibri" pitchFamily="34" charset="0"/>
                <a:ea typeface="Calibri" pitchFamily="34" charset="-122"/>
                <a:cs typeface="Calibri" pitchFamily="34" charset="-120"/>
              </a:rPr>
              <a:t>The whole chapter in one line</a:t>
            </a:r>
            <a:endParaRPr lang="en-US" sz="1100" dirty="0"/>
          </a:p>
        </p:txBody>
      </p:sp>
      <p:sp>
        <p:nvSpPr>
          <p:cNvPr id="3" name="Text 1"/>
          <p:cNvSpPr/>
          <p:nvPr/>
        </p:nvSpPr>
        <p:spPr>
          <a:xfrm>
            <a:off x="777240" y="132588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Flux  =  −  (diffusivity)  ×  (gradient)</a:t>
            </a:r>
            <a:endParaRPr lang="en-US" sz="4000" dirty="0"/>
          </a:p>
        </p:txBody>
      </p:sp>
      <p:sp>
        <p:nvSpPr>
          <p:cNvPr id="4" name="Text 2"/>
          <p:cNvSpPr/>
          <p:nvPr/>
        </p:nvSpPr>
        <p:spPr>
          <a:xfrm>
            <a:off x="777240" y="2286000"/>
            <a:ext cx="10607040" cy="365760"/>
          </a:xfrm>
          <a:prstGeom prst="rect">
            <a:avLst/>
          </a:prstGeom>
          <a:noFill/>
          <a:ln/>
        </p:spPr>
        <p:txBody>
          <a:bodyPr wrap="square" lIns="0" tIns="0" rIns="0" bIns="0" rtlCol="0" anchor="ctr"/>
          <a:lstStyle/>
          <a:p>
            <a:pPr indent="0" marL="0">
              <a:buNone/>
            </a:pPr>
            <a:r>
              <a:rPr lang="en-US" sz="1700" dirty="0">
                <a:solidFill>
                  <a:srgbClr val="A8B6C2"/>
                </a:solidFill>
                <a:latin typeface="Calibri" pitchFamily="34" charset="0"/>
                <a:ea typeface="Calibri" pitchFamily="34" charset="-122"/>
                <a:cs typeface="Calibri" pitchFamily="34" charset="-120"/>
              </a:rPr>
              <a:t>Momentum, heat, and mass all obey this. Only the names change.</a:t>
            </a:r>
            <a:endParaRPr lang="en-US" sz="1700" dirty="0"/>
          </a:p>
        </p:txBody>
      </p:sp>
      <p:sp>
        <p:nvSpPr>
          <p:cNvPr id="5" name="Shape 3"/>
          <p:cNvSpPr/>
          <p:nvPr/>
        </p:nvSpPr>
        <p:spPr>
          <a:xfrm>
            <a:off x="777240" y="3063240"/>
            <a:ext cx="3291840" cy="1737360"/>
          </a:xfrm>
          <a:prstGeom prst="rect">
            <a:avLst/>
          </a:prstGeom>
          <a:solidFill>
            <a:srgbClr val="1E2E3D"/>
          </a:solidFill>
          <a:ln/>
        </p:spPr>
      </p:sp>
      <p:sp>
        <p:nvSpPr>
          <p:cNvPr id="6" name="Shape 4"/>
          <p:cNvSpPr/>
          <p:nvPr/>
        </p:nvSpPr>
        <p:spPr>
          <a:xfrm>
            <a:off x="1051560" y="3310128"/>
            <a:ext cx="256032" cy="256032"/>
          </a:xfrm>
          <a:prstGeom prst="ellipse">
            <a:avLst/>
          </a:prstGeom>
          <a:solidFill>
            <a:srgbClr val="5FC4D6"/>
          </a:solidFill>
          <a:ln/>
        </p:spPr>
      </p:sp>
      <p:sp>
        <p:nvSpPr>
          <p:cNvPr id="7" name="Text 5"/>
          <p:cNvSpPr/>
          <p:nvPr/>
        </p:nvSpPr>
        <p:spPr>
          <a:xfrm>
            <a:off x="1435608" y="3291840"/>
            <a:ext cx="2468880" cy="292608"/>
          </a:xfrm>
          <a:prstGeom prst="rect">
            <a:avLst/>
          </a:prstGeom>
          <a:noFill/>
          <a:ln/>
        </p:spPr>
        <p:txBody>
          <a:bodyPr wrap="square" lIns="0" tIns="0" rIns="0" bIns="0" rtlCol="0" anchor="ctr"/>
          <a:lstStyle/>
          <a:p>
            <a:pPr indent="0" marL="0">
              <a:buNone/>
            </a:pPr>
            <a:r>
              <a:rPr lang="en-US" sz="1200" b="1" spc="200" kern="0" dirty="0">
                <a:solidFill>
                  <a:srgbClr val="5FC4D6"/>
                </a:solidFill>
                <a:latin typeface="Calibri" pitchFamily="34" charset="0"/>
                <a:ea typeface="Calibri" pitchFamily="34" charset="-122"/>
                <a:cs typeface="Calibri" pitchFamily="34" charset="-120"/>
              </a:rPr>
              <a:t>MOMENTUM</a:t>
            </a:r>
            <a:endParaRPr lang="en-US" sz="1200" dirty="0"/>
          </a:p>
        </p:txBody>
      </p:sp>
      <p:sp>
        <p:nvSpPr>
          <p:cNvPr id="8" name="Text 6"/>
          <p:cNvSpPr/>
          <p:nvPr/>
        </p:nvSpPr>
        <p:spPr>
          <a:xfrm>
            <a:off x="1051560" y="3767328"/>
            <a:ext cx="283464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τ</a:t>
            </a:r>
            <a:pPr indent="0" marL="0">
              <a:buNone/>
            </a:pPr>
            <a:r>
              <a:rPr lang="en-US" sz="1300" baseline="-40000" dirty="0">
                <a:solidFill>
                  <a:srgbClr val="FFFFFF"/>
                </a:solidFill>
                <a:latin typeface="Courier New" pitchFamily="34" charset="0"/>
                <a:ea typeface="Courier New" pitchFamily="34" charset="-122"/>
                <a:cs typeface="Courier New" pitchFamily="34" charset="-120"/>
              </a:rPr>
              <a:t>yx</a:t>
            </a:r>
            <a:pPr indent="0" marL="0">
              <a:buNone/>
            </a:pPr>
            <a:r>
              <a:rPr lang="en-US" sz="1300" dirty="0">
                <a:solidFill>
                  <a:srgbClr val="FFFFFF"/>
                </a:solidFill>
                <a:latin typeface="Courier New" pitchFamily="34" charset="0"/>
                <a:ea typeface="Courier New" pitchFamily="34" charset="-122"/>
                <a:cs typeface="Courier New" pitchFamily="34" charset="-120"/>
              </a:rPr>
              <a:t>  =  − ν · d(ρv</a:t>
            </a:r>
            <a:pPr indent="0" marL="0">
              <a:buNone/>
            </a:pPr>
            <a:r>
              <a:rPr lang="en-US" sz="1300" baseline="-40000" dirty="0">
                <a:solidFill>
                  <a:srgbClr val="FFFFFF"/>
                </a:solidFill>
                <a:latin typeface="Courier New" pitchFamily="34" charset="0"/>
                <a:ea typeface="Courier New" pitchFamily="34" charset="-122"/>
                <a:cs typeface="Courier New" pitchFamily="34" charset="-120"/>
              </a:rPr>
              <a:t>x</a:t>
            </a:r>
            <a:pPr indent="0" marL="0">
              <a:buNone/>
            </a:pPr>
            <a:r>
              <a:rPr lang="en-US" sz="1300" dirty="0">
                <a:solidFill>
                  <a:srgbClr val="FFFFFF"/>
                </a:solidFill>
                <a:latin typeface="Courier New" pitchFamily="34" charset="0"/>
                <a:ea typeface="Courier New" pitchFamily="34" charset="-122"/>
                <a:cs typeface="Courier New" pitchFamily="34" charset="-120"/>
              </a:rPr>
              <a:t>)/dy</a:t>
            </a:r>
            <a:endParaRPr lang="en-US" sz="1300" dirty="0"/>
          </a:p>
        </p:txBody>
      </p:sp>
      <p:sp>
        <p:nvSpPr>
          <p:cNvPr id="9" name="Text 7"/>
          <p:cNvSpPr/>
          <p:nvPr/>
        </p:nvSpPr>
        <p:spPr>
          <a:xfrm>
            <a:off x="1051560" y="4224528"/>
            <a:ext cx="2834640" cy="320040"/>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Newton's law of viscosity</a:t>
            </a:r>
            <a:endParaRPr lang="en-US" sz="1300" dirty="0"/>
          </a:p>
        </p:txBody>
      </p:sp>
      <p:sp>
        <p:nvSpPr>
          <p:cNvPr id="10" name="Shape 8"/>
          <p:cNvSpPr/>
          <p:nvPr/>
        </p:nvSpPr>
        <p:spPr>
          <a:xfrm>
            <a:off x="4389120" y="3063240"/>
            <a:ext cx="3291840" cy="1737360"/>
          </a:xfrm>
          <a:prstGeom prst="rect">
            <a:avLst/>
          </a:prstGeom>
          <a:solidFill>
            <a:srgbClr val="1E2E3D"/>
          </a:solidFill>
          <a:ln/>
        </p:spPr>
      </p:sp>
      <p:sp>
        <p:nvSpPr>
          <p:cNvPr id="11" name="Shape 9"/>
          <p:cNvSpPr/>
          <p:nvPr/>
        </p:nvSpPr>
        <p:spPr>
          <a:xfrm>
            <a:off x="4663440" y="3310128"/>
            <a:ext cx="256032" cy="256032"/>
          </a:xfrm>
          <a:prstGeom prst="ellipse">
            <a:avLst/>
          </a:prstGeom>
          <a:solidFill>
            <a:srgbClr val="F0865C"/>
          </a:solidFill>
          <a:ln/>
        </p:spPr>
      </p:sp>
      <p:sp>
        <p:nvSpPr>
          <p:cNvPr id="12" name="Text 10"/>
          <p:cNvSpPr/>
          <p:nvPr/>
        </p:nvSpPr>
        <p:spPr>
          <a:xfrm>
            <a:off x="5047488" y="3291840"/>
            <a:ext cx="2468880" cy="292608"/>
          </a:xfrm>
          <a:prstGeom prst="rect">
            <a:avLst/>
          </a:prstGeom>
          <a:noFill/>
          <a:ln/>
        </p:spPr>
        <p:txBody>
          <a:bodyPr wrap="square" lIns="0" tIns="0" rIns="0" bIns="0" rtlCol="0" anchor="ctr"/>
          <a:lstStyle/>
          <a:p>
            <a:pPr indent="0" marL="0">
              <a:buNone/>
            </a:pPr>
            <a:r>
              <a:rPr lang="en-US" sz="1200" b="1" spc="200" kern="0" dirty="0">
                <a:solidFill>
                  <a:srgbClr val="F0865C"/>
                </a:solidFill>
                <a:latin typeface="Calibri" pitchFamily="34" charset="0"/>
                <a:ea typeface="Calibri" pitchFamily="34" charset="-122"/>
                <a:cs typeface="Calibri" pitchFamily="34" charset="-120"/>
              </a:rPr>
              <a:t>HEAT</a:t>
            </a:r>
            <a:endParaRPr lang="en-US" sz="1200" dirty="0"/>
          </a:p>
        </p:txBody>
      </p:sp>
      <p:sp>
        <p:nvSpPr>
          <p:cNvPr id="13" name="Text 11"/>
          <p:cNvSpPr/>
          <p:nvPr/>
        </p:nvSpPr>
        <p:spPr>
          <a:xfrm>
            <a:off x="4663440" y="3767328"/>
            <a:ext cx="283464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q</a:t>
            </a:r>
            <a:pPr indent="0" marL="0">
              <a:buNone/>
            </a:pPr>
            <a:r>
              <a:rPr lang="en-US" sz="1300" baseline="-40000" dirty="0">
                <a:solidFill>
                  <a:srgbClr val="FFFFFF"/>
                </a:solidFill>
                <a:latin typeface="Courier New" pitchFamily="34" charset="0"/>
                <a:ea typeface="Courier New" pitchFamily="34" charset="-122"/>
                <a:cs typeface="Courier New" pitchFamily="34" charset="-120"/>
              </a:rPr>
              <a:t>y</a:t>
            </a:r>
            <a:pPr indent="0" marL="0">
              <a:buNone/>
            </a:pPr>
            <a:r>
              <a:rPr lang="en-US" sz="1300" dirty="0">
                <a:solidFill>
                  <a:srgbClr val="FFFFFF"/>
                </a:solidFill>
                <a:latin typeface="Courier New" pitchFamily="34" charset="0"/>
                <a:ea typeface="Courier New" pitchFamily="34" charset="-122"/>
                <a:cs typeface="Courier New" pitchFamily="34" charset="-120"/>
              </a:rPr>
              <a:t>   =  − α · d(ρĈ</a:t>
            </a:r>
            <a:pPr indent="0" marL="0">
              <a:buNone/>
            </a:pPr>
            <a:r>
              <a:rPr lang="en-US" sz="1300" baseline="-40000" dirty="0">
                <a:solidFill>
                  <a:srgbClr val="FFFFFF"/>
                </a:solidFill>
                <a:latin typeface="Courier New" pitchFamily="34" charset="0"/>
                <a:ea typeface="Courier New" pitchFamily="34" charset="-122"/>
                <a:cs typeface="Courier New" pitchFamily="34" charset="-120"/>
              </a:rPr>
              <a:t>p</a:t>
            </a:r>
            <a:pPr indent="0" marL="0">
              <a:buNone/>
            </a:pPr>
            <a:r>
              <a:rPr lang="en-US" sz="1300" dirty="0">
                <a:solidFill>
                  <a:srgbClr val="FFFFFF"/>
                </a:solidFill>
                <a:latin typeface="Courier New" pitchFamily="34" charset="0"/>
                <a:ea typeface="Courier New" pitchFamily="34" charset="-122"/>
                <a:cs typeface="Courier New" pitchFamily="34" charset="-120"/>
              </a:rPr>
              <a:t>T)/dy</a:t>
            </a:r>
            <a:endParaRPr lang="en-US" sz="1300" dirty="0"/>
          </a:p>
        </p:txBody>
      </p:sp>
      <p:sp>
        <p:nvSpPr>
          <p:cNvPr id="14" name="Text 12"/>
          <p:cNvSpPr/>
          <p:nvPr/>
        </p:nvSpPr>
        <p:spPr>
          <a:xfrm>
            <a:off x="4663440" y="4224528"/>
            <a:ext cx="2834640" cy="320040"/>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Fourier's law</a:t>
            </a:r>
            <a:endParaRPr lang="en-US" sz="1300" dirty="0"/>
          </a:p>
        </p:txBody>
      </p:sp>
      <p:sp>
        <p:nvSpPr>
          <p:cNvPr id="15" name="Shape 13"/>
          <p:cNvSpPr/>
          <p:nvPr/>
        </p:nvSpPr>
        <p:spPr>
          <a:xfrm>
            <a:off x="8001000" y="3063240"/>
            <a:ext cx="3291840" cy="1737360"/>
          </a:xfrm>
          <a:prstGeom prst="rect">
            <a:avLst/>
          </a:prstGeom>
          <a:solidFill>
            <a:srgbClr val="1E2E3D"/>
          </a:solidFill>
          <a:ln/>
        </p:spPr>
      </p:sp>
      <p:sp>
        <p:nvSpPr>
          <p:cNvPr id="16" name="Shape 14"/>
          <p:cNvSpPr/>
          <p:nvPr/>
        </p:nvSpPr>
        <p:spPr>
          <a:xfrm>
            <a:off x="8275320" y="3310128"/>
            <a:ext cx="256032" cy="256032"/>
          </a:xfrm>
          <a:prstGeom prst="ellipse">
            <a:avLst/>
          </a:prstGeom>
          <a:solidFill>
            <a:srgbClr val="A78FE0"/>
          </a:solidFill>
          <a:ln/>
        </p:spPr>
      </p:sp>
      <p:sp>
        <p:nvSpPr>
          <p:cNvPr id="17" name="Text 15"/>
          <p:cNvSpPr/>
          <p:nvPr/>
        </p:nvSpPr>
        <p:spPr>
          <a:xfrm>
            <a:off x="8659368" y="3291840"/>
            <a:ext cx="2468880" cy="292608"/>
          </a:xfrm>
          <a:prstGeom prst="rect">
            <a:avLst/>
          </a:prstGeom>
          <a:noFill/>
          <a:ln/>
        </p:spPr>
        <p:txBody>
          <a:bodyPr wrap="square" lIns="0" tIns="0" rIns="0" bIns="0" rtlCol="0" anchor="ctr"/>
          <a:lstStyle/>
          <a:p>
            <a:pPr indent="0" marL="0">
              <a:buNone/>
            </a:pPr>
            <a:r>
              <a:rPr lang="en-US" sz="1200" b="1" spc="200" kern="0" dirty="0">
                <a:solidFill>
                  <a:srgbClr val="A78FE0"/>
                </a:solidFill>
                <a:latin typeface="Calibri" pitchFamily="34" charset="0"/>
                <a:ea typeface="Calibri" pitchFamily="34" charset="-122"/>
                <a:cs typeface="Calibri" pitchFamily="34" charset="-120"/>
              </a:rPr>
              <a:t>MASS</a:t>
            </a:r>
            <a:endParaRPr lang="en-US" sz="1200" dirty="0"/>
          </a:p>
        </p:txBody>
      </p:sp>
      <p:sp>
        <p:nvSpPr>
          <p:cNvPr id="18" name="Text 16"/>
          <p:cNvSpPr/>
          <p:nvPr/>
        </p:nvSpPr>
        <p:spPr>
          <a:xfrm>
            <a:off x="8275320" y="3767328"/>
            <a:ext cx="283464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J</a:t>
            </a:r>
            <a:pPr indent="0" marL="0">
              <a:buNone/>
            </a:pPr>
            <a:r>
              <a:rPr lang="en-US" sz="1300" baseline="-40000" dirty="0">
                <a:solidFill>
                  <a:srgbClr val="FFFFFF"/>
                </a:solidFill>
                <a:latin typeface="Courier New" pitchFamily="34" charset="0"/>
                <a:ea typeface="Courier New" pitchFamily="34" charset="-122"/>
                <a:cs typeface="Courier New" pitchFamily="34" charset="-120"/>
              </a:rPr>
              <a:t>Ay</a:t>
            </a:r>
            <a:pPr indent="0" marL="0">
              <a:buNone/>
            </a:pPr>
            <a:r>
              <a:rPr lang="en-US" sz="1300" dirty="0">
                <a:solidFill>
                  <a:srgbClr val="FFFFFF"/>
                </a:solidFill>
                <a:latin typeface="Courier New" pitchFamily="34" charset="0"/>
                <a:ea typeface="Courier New" pitchFamily="34" charset="-122"/>
                <a:cs typeface="Courier New" pitchFamily="34" charset="-120"/>
              </a:rPr>
              <a:t>  =  − D</a:t>
            </a:r>
            <a:pPr indent="0" marL="0">
              <a:buNone/>
            </a:pPr>
            <a:r>
              <a:rPr lang="en-US" sz="1300" baseline="-40000" dirty="0">
                <a:solidFill>
                  <a:srgbClr val="FFFFFF"/>
                </a:solidFill>
                <a:latin typeface="Courier New" pitchFamily="34" charset="0"/>
                <a:ea typeface="Courier New" pitchFamily="34" charset="-122"/>
                <a:cs typeface="Courier New" pitchFamily="34" charset="-120"/>
              </a:rPr>
              <a:t>AB</a:t>
            </a:r>
            <a:pPr indent="0" marL="0">
              <a:buNone/>
            </a:pPr>
            <a:r>
              <a:rPr lang="en-US" sz="1300" dirty="0">
                <a:solidFill>
                  <a:srgbClr val="FFFFFF"/>
                </a:solidFill>
                <a:latin typeface="Courier New" pitchFamily="34" charset="0"/>
                <a:ea typeface="Courier New" pitchFamily="34" charset="-122"/>
                <a:cs typeface="Courier New" pitchFamily="34" charset="-120"/>
              </a:rPr>
              <a:t> · dc</a:t>
            </a:r>
            <a:pPr indent="0" marL="0">
              <a:buNone/>
            </a:pPr>
            <a:r>
              <a:rPr lang="en-US" sz="1300" baseline="-40000" dirty="0">
                <a:solidFill>
                  <a:srgbClr val="FFFFFF"/>
                </a:solidFill>
                <a:latin typeface="Courier New" pitchFamily="34" charset="0"/>
                <a:ea typeface="Courier New" pitchFamily="34" charset="-122"/>
                <a:cs typeface="Courier New" pitchFamily="34" charset="-120"/>
              </a:rPr>
              <a:t>A</a:t>
            </a:r>
            <a:pPr indent="0" marL="0">
              <a:buNone/>
            </a:pPr>
            <a:r>
              <a:rPr lang="en-US" sz="1300" dirty="0">
                <a:solidFill>
                  <a:srgbClr val="FFFFFF"/>
                </a:solidFill>
                <a:latin typeface="Courier New" pitchFamily="34" charset="0"/>
                <a:ea typeface="Courier New" pitchFamily="34" charset="-122"/>
                <a:cs typeface="Courier New" pitchFamily="34" charset="-120"/>
              </a:rPr>
              <a:t>/dy</a:t>
            </a:r>
            <a:endParaRPr lang="en-US" sz="1300" dirty="0"/>
          </a:p>
        </p:txBody>
      </p:sp>
      <p:sp>
        <p:nvSpPr>
          <p:cNvPr id="19" name="Text 17"/>
          <p:cNvSpPr/>
          <p:nvPr/>
        </p:nvSpPr>
        <p:spPr>
          <a:xfrm>
            <a:off x="8275320" y="4224528"/>
            <a:ext cx="2834640" cy="320040"/>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Fick's law</a:t>
            </a:r>
            <a:endParaRPr lang="en-US" sz="1300" dirty="0"/>
          </a:p>
        </p:txBody>
      </p:sp>
      <p:sp>
        <p:nvSpPr>
          <p:cNvPr id="20" name="Text 18"/>
          <p:cNvSpPr/>
          <p:nvPr/>
        </p:nvSpPr>
        <p:spPr>
          <a:xfrm>
            <a:off x="777240" y="5257800"/>
            <a:ext cx="6400800" cy="365760"/>
          </a:xfrm>
          <a:prstGeom prst="rect">
            <a:avLst/>
          </a:prstGeom>
          <a:noFill/>
          <a:ln/>
        </p:spPr>
        <p:txBody>
          <a:bodyPr wrap="square" lIns="0" tIns="0" rIns="0" bIns="0" rtlCol="0" anchor="ctr"/>
          <a:lstStyle/>
          <a:p>
            <a:pPr indent="0" marL="0">
              <a:buNone/>
            </a:pPr>
            <a:r>
              <a:rPr lang="en-US" sz="1500" b="1" u="sng" dirty="0">
                <a:solidFill>
                  <a:srgbClr val="5FC4D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it live  →  the transport analogy widget</a:t>
            </a:r>
            <a:endParaRPr lang="en-US" sz="1500" dirty="0"/>
          </a:p>
        </p:txBody>
      </p:sp>
      <p:sp>
        <p:nvSpPr>
          <p:cNvPr id="21" name="Text 19"/>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DEFINITIONS</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What is actually being transported</a:t>
            </a:r>
            <a:endParaRPr lang="en-US" sz="3200" dirty="0"/>
          </a:p>
        </p:txBody>
      </p:sp>
      <p:sp>
        <p:nvSpPr>
          <p:cNvPr id="4" name="Shape 2"/>
          <p:cNvSpPr/>
          <p:nvPr/>
        </p:nvSpPr>
        <p:spPr>
          <a:xfrm>
            <a:off x="548640" y="1600200"/>
            <a:ext cx="3566160" cy="3566160"/>
          </a:xfrm>
          <a:prstGeom prst="rect">
            <a:avLst/>
          </a:prstGeom>
          <a:solidFill>
            <a:srgbClr val="F4F6F8"/>
          </a:solidFill>
          <a:ln w="12700">
            <a:solidFill>
              <a:srgbClr val="E4E9ED"/>
            </a:solidFill>
            <a:prstDash val="solid"/>
          </a:ln>
        </p:spPr>
      </p:sp>
      <p:sp>
        <p:nvSpPr>
          <p:cNvPr id="5" name="Shape 3"/>
          <p:cNvSpPr/>
          <p:nvPr/>
        </p:nvSpPr>
        <p:spPr>
          <a:xfrm>
            <a:off x="841248" y="1874520"/>
            <a:ext cx="310896" cy="310896"/>
          </a:xfrm>
          <a:prstGeom prst="ellipse">
            <a:avLst/>
          </a:prstGeom>
          <a:solidFill>
            <a:srgbClr val="2E8B9E"/>
          </a:solidFill>
          <a:ln/>
        </p:spPr>
      </p:sp>
      <p:sp>
        <p:nvSpPr>
          <p:cNvPr id="6" name="Text 4"/>
          <p:cNvSpPr/>
          <p:nvPr/>
        </p:nvSpPr>
        <p:spPr>
          <a:xfrm>
            <a:off x="841248" y="1874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7" name="Text 5"/>
          <p:cNvSpPr/>
          <p:nvPr/>
        </p:nvSpPr>
        <p:spPr>
          <a:xfrm>
            <a:off x="1298448" y="1874520"/>
            <a:ext cx="2560320" cy="329184"/>
          </a:xfrm>
          <a:prstGeom prst="rect">
            <a:avLst/>
          </a:prstGeom>
          <a:noFill/>
          <a:ln/>
        </p:spPr>
        <p:txBody>
          <a:bodyPr wrap="square" lIns="0" tIns="0" rIns="0" bIns="0" rtlCol="0" anchor="ctr"/>
          <a:lstStyle/>
          <a:p>
            <a:pPr indent="0" marL="0">
              <a:buNone/>
            </a:pPr>
            <a:r>
              <a:rPr lang="en-US" sz="1700" b="1" dirty="0">
                <a:solidFill>
                  <a:srgbClr val="2E8B9E"/>
                </a:solidFill>
                <a:latin typeface="Cambria" pitchFamily="34" charset="0"/>
                <a:ea typeface="Cambria" pitchFamily="34" charset="-122"/>
                <a:cs typeface="Cambria" pitchFamily="34" charset="-120"/>
              </a:rPr>
              <a:t>Momentum transfer</a:t>
            </a:r>
            <a:endParaRPr lang="en-US" sz="1700" dirty="0"/>
          </a:p>
        </p:txBody>
      </p:sp>
      <p:sp>
        <p:nvSpPr>
          <p:cNvPr id="8" name="Text 6"/>
          <p:cNvSpPr/>
          <p:nvPr/>
        </p:nvSpPr>
        <p:spPr>
          <a:xfrm>
            <a:off x="859536" y="2377440"/>
            <a:ext cx="2944368" cy="256032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Momentum moves through a fluid from one location to another</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The subject you know as fluid mechanics</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Driven by a velocity difference</a:t>
            </a:r>
            <a:endParaRPr lang="en-US" sz="1350" dirty="0"/>
          </a:p>
        </p:txBody>
      </p:sp>
      <p:sp>
        <p:nvSpPr>
          <p:cNvPr id="9" name="Shape 7"/>
          <p:cNvSpPr/>
          <p:nvPr/>
        </p:nvSpPr>
        <p:spPr>
          <a:xfrm>
            <a:off x="4297680" y="1600200"/>
            <a:ext cx="3566160" cy="3566160"/>
          </a:xfrm>
          <a:prstGeom prst="rect">
            <a:avLst/>
          </a:prstGeom>
          <a:solidFill>
            <a:srgbClr val="F4F6F8"/>
          </a:solidFill>
          <a:ln w="12700">
            <a:solidFill>
              <a:srgbClr val="E4E9ED"/>
            </a:solidFill>
            <a:prstDash val="solid"/>
          </a:ln>
        </p:spPr>
      </p:sp>
      <p:sp>
        <p:nvSpPr>
          <p:cNvPr id="10" name="Shape 8"/>
          <p:cNvSpPr/>
          <p:nvPr/>
        </p:nvSpPr>
        <p:spPr>
          <a:xfrm>
            <a:off x="4590288" y="1874520"/>
            <a:ext cx="310896" cy="310896"/>
          </a:xfrm>
          <a:prstGeom prst="ellipse">
            <a:avLst/>
          </a:prstGeom>
          <a:solidFill>
            <a:srgbClr val="C9552E"/>
          </a:solidFill>
          <a:ln/>
        </p:spPr>
      </p:sp>
      <p:sp>
        <p:nvSpPr>
          <p:cNvPr id="11" name="Text 9"/>
          <p:cNvSpPr/>
          <p:nvPr/>
        </p:nvSpPr>
        <p:spPr>
          <a:xfrm>
            <a:off x="4590288" y="1874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12" name="Text 10"/>
          <p:cNvSpPr/>
          <p:nvPr/>
        </p:nvSpPr>
        <p:spPr>
          <a:xfrm>
            <a:off x="5047488" y="1874520"/>
            <a:ext cx="2560320" cy="329184"/>
          </a:xfrm>
          <a:prstGeom prst="rect">
            <a:avLst/>
          </a:prstGeom>
          <a:noFill/>
          <a:ln/>
        </p:spPr>
        <p:txBody>
          <a:bodyPr wrap="square" lIns="0" tIns="0" rIns="0" bIns="0" rtlCol="0" anchor="ctr"/>
          <a:lstStyle/>
          <a:p>
            <a:pPr indent="0" marL="0">
              <a:buNone/>
            </a:pPr>
            <a:r>
              <a:rPr lang="en-US" sz="1700" b="1" dirty="0">
                <a:solidFill>
                  <a:srgbClr val="C9552E"/>
                </a:solidFill>
                <a:latin typeface="Cambria" pitchFamily="34" charset="0"/>
                <a:ea typeface="Cambria" pitchFamily="34" charset="-122"/>
                <a:cs typeface="Cambria" pitchFamily="34" charset="-120"/>
              </a:rPr>
              <a:t>Heat transfer</a:t>
            </a:r>
            <a:endParaRPr lang="en-US" sz="1700" dirty="0"/>
          </a:p>
        </p:txBody>
      </p:sp>
      <p:sp>
        <p:nvSpPr>
          <p:cNvPr id="13" name="Text 11"/>
          <p:cNvSpPr/>
          <p:nvPr/>
        </p:nvSpPr>
        <p:spPr>
          <a:xfrm>
            <a:off x="4608576" y="2377440"/>
            <a:ext cx="2944368" cy="256032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Thermal energy moves from one location or stream to another</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Conduction, convection, radiation</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Driven by a temperature difference</a:t>
            </a:r>
            <a:endParaRPr lang="en-US" sz="1350" dirty="0"/>
          </a:p>
        </p:txBody>
      </p:sp>
      <p:sp>
        <p:nvSpPr>
          <p:cNvPr id="14" name="Shape 12"/>
          <p:cNvSpPr/>
          <p:nvPr/>
        </p:nvSpPr>
        <p:spPr>
          <a:xfrm>
            <a:off x="8046720" y="1600200"/>
            <a:ext cx="3566160" cy="3566160"/>
          </a:xfrm>
          <a:prstGeom prst="rect">
            <a:avLst/>
          </a:prstGeom>
          <a:solidFill>
            <a:srgbClr val="F4F6F8"/>
          </a:solidFill>
          <a:ln w="12700">
            <a:solidFill>
              <a:srgbClr val="E4E9ED"/>
            </a:solidFill>
            <a:prstDash val="solid"/>
          </a:ln>
        </p:spPr>
      </p:sp>
      <p:sp>
        <p:nvSpPr>
          <p:cNvPr id="15" name="Shape 13"/>
          <p:cNvSpPr/>
          <p:nvPr/>
        </p:nvSpPr>
        <p:spPr>
          <a:xfrm>
            <a:off x="8339328" y="1874520"/>
            <a:ext cx="310896" cy="310896"/>
          </a:xfrm>
          <a:prstGeom prst="ellipse">
            <a:avLst/>
          </a:prstGeom>
          <a:solidFill>
            <a:srgbClr val="6B54A8"/>
          </a:solidFill>
          <a:ln/>
        </p:spPr>
      </p:sp>
      <p:sp>
        <p:nvSpPr>
          <p:cNvPr id="16" name="Text 14"/>
          <p:cNvSpPr/>
          <p:nvPr/>
        </p:nvSpPr>
        <p:spPr>
          <a:xfrm>
            <a:off x="8339328" y="1874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7" name="Text 15"/>
          <p:cNvSpPr/>
          <p:nvPr/>
        </p:nvSpPr>
        <p:spPr>
          <a:xfrm>
            <a:off x="8796528" y="1874520"/>
            <a:ext cx="2560320" cy="329184"/>
          </a:xfrm>
          <a:prstGeom prst="rect">
            <a:avLst/>
          </a:prstGeom>
          <a:noFill/>
          <a:ln/>
        </p:spPr>
        <p:txBody>
          <a:bodyPr wrap="square" lIns="0" tIns="0" rIns="0" bIns="0" rtlCol="0" anchor="ctr"/>
          <a:lstStyle/>
          <a:p>
            <a:pPr indent="0" marL="0">
              <a:buNone/>
            </a:pPr>
            <a:r>
              <a:rPr lang="en-US" sz="1700" b="1" dirty="0">
                <a:solidFill>
                  <a:srgbClr val="6B54A8"/>
                </a:solidFill>
                <a:latin typeface="Cambria" pitchFamily="34" charset="0"/>
                <a:ea typeface="Cambria" pitchFamily="34" charset="-122"/>
                <a:cs typeface="Cambria" pitchFamily="34" charset="-120"/>
              </a:rPr>
              <a:t>Mass transfer</a:t>
            </a:r>
            <a:endParaRPr lang="en-US" sz="1700" dirty="0"/>
          </a:p>
        </p:txBody>
      </p:sp>
      <p:sp>
        <p:nvSpPr>
          <p:cNvPr id="18" name="Text 16"/>
          <p:cNvSpPr/>
          <p:nvPr/>
        </p:nvSpPr>
        <p:spPr>
          <a:xfrm>
            <a:off x="8357616" y="2377440"/>
            <a:ext cx="2944368" cy="256032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Net movement of a species from one stream or phase to another</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Absorption, distillation, drying, adsorption</a:t>
            </a:r>
            <a:endParaRPr lang="en-US" sz="1350" dirty="0"/>
          </a:p>
          <a:p>
            <a:pPr marL="342900" indent="-342900">
              <a:lnSpc>
                <a:spcPts val="1900"/>
              </a:lnSpc>
              <a:spcAft>
                <a:spcPts val="600"/>
              </a:spcAft>
              <a:buSzPct val="100000"/>
              <a:buChar char="•"/>
            </a:pPr>
            <a:r>
              <a:rPr lang="en-US" sz="1350" dirty="0">
                <a:solidFill>
                  <a:srgbClr val="2B3947"/>
                </a:solidFill>
                <a:latin typeface="Calibri" pitchFamily="34" charset="0"/>
                <a:ea typeface="Calibri" pitchFamily="34" charset="-122"/>
                <a:cs typeface="Calibri" pitchFamily="34" charset="-120"/>
              </a:rPr>
              <a:t>Driven by a concentration difference</a:t>
            </a:r>
            <a:endParaRPr lang="en-US" sz="1350" dirty="0"/>
          </a:p>
        </p:txBody>
      </p:sp>
      <p:sp>
        <p:nvSpPr>
          <p:cNvPr id="19" name="Text 17"/>
          <p:cNvSpPr/>
          <p:nvPr/>
        </p:nvSpPr>
        <p:spPr>
          <a:xfrm>
            <a:off x="548640" y="5440680"/>
            <a:ext cx="11064240" cy="365760"/>
          </a:xfrm>
          <a:prstGeom prst="rect">
            <a:avLst/>
          </a:prstGeom>
          <a:noFill/>
          <a:ln/>
        </p:spPr>
        <p:txBody>
          <a:bodyPr wrap="square" lIns="0" tIns="0" rIns="0" bIns="0" rtlCol="0" anchor="ctr"/>
          <a:lstStyle/>
          <a:p>
            <a:pPr indent="0" marL="0">
              <a:buNone/>
            </a:pPr>
            <a:r>
              <a:rPr lang="en-US" sz="1500" i="1" dirty="0">
                <a:solidFill>
                  <a:srgbClr val="6B7C8C"/>
                </a:solidFill>
                <a:latin typeface="Calibri" pitchFamily="34" charset="0"/>
                <a:ea typeface="Calibri" pitchFamily="34" charset="-122"/>
                <a:cs typeface="Calibri" pitchFamily="34" charset="-120"/>
              </a:rPr>
              <a:t>In every case: something moves because a difference exists, and the movement acts to remove that difference.</a:t>
            </a:r>
            <a:endParaRPr lang="en-US" sz="1500" dirty="0"/>
          </a:p>
        </p:txBody>
      </p:sp>
      <p:sp>
        <p:nvSpPr>
          <p:cNvPr id="20" name="Text 18"/>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INDUSTRIAL CONTEXT</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All three, in every unit you will ever design</a:t>
            </a:r>
            <a:endParaRPr lang="en-US" sz="3200" dirty="0"/>
          </a:p>
        </p:txBody>
      </p:sp>
      <p:sp>
        <p:nvSpPr>
          <p:cNvPr id="4" name="Shape 2"/>
          <p:cNvSpPr/>
          <p:nvPr/>
        </p:nvSpPr>
        <p:spPr>
          <a:xfrm>
            <a:off x="548640" y="1645920"/>
            <a:ext cx="11064240" cy="960120"/>
          </a:xfrm>
          <a:prstGeom prst="rect">
            <a:avLst/>
          </a:prstGeom>
          <a:solidFill>
            <a:srgbClr val="F4F6F8"/>
          </a:solidFill>
          <a:ln/>
        </p:spPr>
      </p:sp>
      <p:sp>
        <p:nvSpPr>
          <p:cNvPr id="5" name="Text 3"/>
          <p:cNvSpPr/>
          <p:nvPr/>
        </p:nvSpPr>
        <p:spPr>
          <a:xfrm>
            <a:off x="868680" y="1755648"/>
            <a:ext cx="3017520" cy="365760"/>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Exothermic CSTR</a:t>
            </a:r>
            <a:endParaRPr lang="en-US" sz="1700" dirty="0"/>
          </a:p>
        </p:txBody>
      </p:sp>
      <p:sp>
        <p:nvSpPr>
          <p:cNvPr id="6" name="Shape 4"/>
          <p:cNvSpPr/>
          <p:nvPr/>
        </p:nvSpPr>
        <p:spPr>
          <a:xfrm>
            <a:off x="868680" y="2212848"/>
            <a:ext cx="173736" cy="173736"/>
          </a:xfrm>
          <a:prstGeom prst="ellipse">
            <a:avLst/>
          </a:prstGeom>
          <a:solidFill>
            <a:srgbClr val="2E8B9E"/>
          </a:solidFill>
          <a:ln/>
        </p:spPr>
      </p:sp>
      <p:sp>
        <p:nvSpPr>
          <p:cNvPr id="7" name="Shape 5"/>
          <p:cNvSpPr/>
          <p:nvPr/>
        </p:nvSpPr>
        <p:spPr>
          <a:xfrm>
            <a:off x="1143000" y="2212848"/>
            <a:ext cx="173736" cy="173736"/>
          </a:xfrm>
          <a:prstGeom prst="ellipse">
            <a:avLst/>
          </a:prstGeom>
          <a:solidFill>
            <a:srgbClr val="C9552E"/>
          </a:solidFill>
          <a:ln/>
        </p:spPr>
      </p:sp>
      <p:sp>
        <p:nvSpPr>
          <p:cNvPr id="8" name="Shape 6"/>
          <p:cNvSpPr/>
          <p:nvPr/>
        </p:nvSpPr>
        <p:spPr>
          <a:xfrm>
            <a:off x="1417320" y="2212848"/>
            <a:ext cx="173736" cy="173736"/>
          </a:xfrm>
          <a:prstGeom prst="ellipse">
            <a:avLst/>
          </a:prstGeom>
          <a:solidFill>
            <a:srgbClr val="6B54A8"/>
          </a:solidFill>
          <a:ln/>
        </p:spPr>
      </p:sp>
      <p:sp>
        <p:nvSpPr>
          <p:cNvPr id="9" name="Text 7"/>
          <p:cNvSpPr/>
          <p:nvPr/>
        </p:nvSpPr>
        <p:spPr>
          <a:xfrm>
            <a:off x="4114800" y="1783080"/>
            <a:ext cx="7315200" cy="713232"/>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Flow in and out, mixing, coolant circulation · reaction heat crossing the jacket wall · reagents meeting to react</a:t>
            </a:r>
            <a:endParaRPr lang="en-US" sz="1350" dirty="0"/>
          </a:p>
        </p:txBody>
      </p:sp>
      <p:sp>
        <p:nvSpPr>
          <p:cNvPr id="10" name="Shape 8"/>
          <p:cNvSpPr/>
          <p:nvPr/>
        </p:nvSpPr>
        <p:spPr>
          <a:xfrm>
            <a:off x="548640" y="2788920"/>
            <a:ext cx="11064240" cy="960120"/>
          </a:xfrm>
          <a:prstGeom prst="rect">
            <a:avLst/>
          </a:prstGeom>
          <a:solidFill>
            <a:srgbClr val="FFFFFF"/>
          </a:solidFill>
          <a:ln/>
        </p:spPr>
      </p:sp>
      <p:sp>
        <p:nvSpPr>
          <p:cNvPr id="11" name="Text 9"/>
          <p:cNvSpPr/>
          <p:nvPr/>
        </p:nvSpPr>
        <p:spPr>
          <a:xfrm>
            <a:off x="868680" y="2898648"/>
            <a:ext cx="3017520" cy="365760"/>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Shell-and-tube exchanger</a:t>
            </a:r>
            <a:endParaRPr lang="en-US" sz="1700" dirty="0"/>
          </a:p>
        </p:txBody>
      </p:sp>
      <p:sp>
        <p:nvSpPr>
          <p:cNvPr id="12" name="Shape 10"/>
          <p:cNvSpPr/>
          <p:nvPr/>
        </p:nvSpPr>
        <p:spPr>
          <a:xfrm>
            <a:off x="868680" y="3355848"/>
            <a:ext cx="173736" cy="173736"/>
          </a:xfrm>
          <a:prstGeom prst="ellipse">
            <a:avLst/>
          </a:prstGeom>
          <a:solidFill>
            <a:srgbClr val="2E8B9E"/>
          </a:solidFill>
          <a:ln/>
        </p:spPr>
      </p:sp>
      <p:sp>
        <p:nvSpPr>
          <p:cNvPr id="13" name="Shape 11"/>
          <p:cNvSpPr/>
          <p:nvPr/>
        </p:nvSpPr>
        <p:spPr>
          <a:xfrm>
            <a:off x="1143000" y="3355848"/>
            <a:ext cx="173736" cy="173736"/>
          </a:xfrm>
          <a:prstGeom prst="ellipse">
            <a:avLst/>
          </a:prstGeom>
          <a:solidFill>
            <a:srgbClr val="C9552E"/>
          </a:solidFill>
          <a:ln/>
        </p:spPr>
      </p:sp>
      <p:sp>
        <p:nvSpPr>
          <p:cNvPr id="14" name="Text 12"/>
          <p:cNvSpPr/>
          <p:nvPr/>
        </p:nvSpPr>
        <p:spPr>
          <a:xfrm>
            <a:off x="4114800" y="2926080"/>
            <a:ext cx="7315200" cy="713232"/>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Hot and cold streams driven through shell and tubes · heat crossing the tube wall between them</a:t>
            </a:r>
            <a:endParaRPr lang="en-US" sz="1350" dirty="0"/>
          </a:p>
        </p:txBody>
      </p:sp>
      <p:sp>
        <p:nvSpPr>
          <p:cNvPr id="15" name="Shape 13"/>
          <p:cNvSpPr/>
          <p:nvPr/>
        </p:nvSpPr>
        <p:spPr>
          <a:xfrm>
            <a:off x="548640" y="3931920"/>
            <a:ext cx="11064240" cy="960120"/>
          </a:xfrm>
          <a:prstGeom prst="rect">
            <a:avLst/>
          </a:prstGeom>
          <a:solidFill>
            <a:srgbClr val="F4F6F8"/>
          </a:solidFill>
          <a:ln/>
        </p:spPr>
      </p:sp>
      <p:sp>
        <p:nvSpPr>
          <p:cNvPr id="16" name="Text 14"/>
          <p:cNvSpPr/>
          <p:nvPr/>
        </p:nvSpPr>
        <p:spPr>
          <a:xfrm>
            <a:off x="868680" y="4041648"/>
            <a:ext cx="3017520" cy="365760"/>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Distillation column</a:t>
            </a:r>
            <a:endParaRPr lang="en-US" sz="1700" dirty="0"/>
          </a:p>
        </p:txBody>
      </p:sp>
      <p:sp>
        <p:nvSpPr>
          <p:cNvPr id="17" name="Shape 15"/>
          <p:cNvSpPr/>
          <p:nvPr/>
        </p:nvSpPr>
        <p:spPr>
          <a:xfrm>
            <a:off x="868680" y="4498848"/>
            <a:ext cx="173736" cy="173736"/>
          </a:xfrm>
          <a:prstGeom prst="ellipse">
            <a:avLst/>
          </a:prstGeom>
          <a:solidFill>
            <a:srgbClr val="2E8B9E"/>
          </a:solidFill>
          <a:ln/>
        </p:spPr>
      </p:sp>
      <p:sp>
        <p:nvSpPr>
          <p:cNvPr id="18" name="Shape 16"/>
          <p:cNvSpPr/>
          <p:nvPr/>
        </p:nvSpPr>
        <p:spPr>
          <a:xfrm>
            <a:off x="1143000" y="4498848"/>
            <a:ext cx="173736" cy="173736"/>
          </a:xfrm>
          <a:prstGeom prst="ellipse">
            <a:avLst/>
          </a:prstGeom>
          <a:solidFill>
            <a:srgbClr val="C9552E"/>
          </a:solidFill>
          <a:ln/>
        </p:spPr>
      </p:sp>
      <p:sp>
        <p:nvSpPr>
          <p:cNvPr id="19" name="Shape 17"/>
          <p:cNvSpPr/>
          <p:nvPr/>
        </p:nvSpPr>
        <p:spPr>
          <a:xfrm>
            <a:off x="1417320" y="4498848"/>
            <a:ext cx="173736" cy="173736"/>
          </a:xfrm>
          <a:prstGeom prst="ellipse">
            <a:avLst/>
          </a:prstGeom>
          <a:solidFill>
            <a:srgbClr val="6B54A8"/>
          </a:solidFill>
          <a:ln/>
        </p:spPr>
      </p:sp>
      <p:sp>
        <p:nvSpPr>
          <p:cNvPr id="20" name="Text 18"/>
          <p:cNvSpPr/>
          <p:nvPr/>
        </p:nvSpPr>
        <p:spPr>
          <a:xfrm>
            <a:off x="4114800" y="4069080"/>
            <a:ext cx="7315200" cy="713232"/>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Feed in, liquid down, vapour up · condenser and reboiler duty · light and heavy components redistributing between phases</a:t>
            </a:r>
            <a:endParaRPr lang="en-US" sz="1350" dirty="0"/>
          </a:p>
        </p:txBody>
      </p:sp>
      <p:sp>
        <p:nvSpPr>
          <p:cNvPr id="21" name="Shape 19"/>
          <p:cNvSpPr/>
          <p:nvPr/>
        </p:nvSpPr>
        <p:spPr>
          <a:xfrm>
            <a:off x="548640" y="5074920"/>
            <a:ext cx="11064240" cy="960120"/>
          </a:xfrm>
          <a:prstGeom prst="rect">
            <a:avLst/>
          </a:prstGeom>
          <a:solidFill>
            <a:srgbClr val="FFFFFF"/>
          </a:solidFill>
          <a:ln/>
        </p:spPr>
      </p:sp>
      <p:sp>
        <p:nvSpPr>
          <p:cNvPr id="22" name="Text 20"/>
          <p:cNvSpPr/>
          <p:nvPr/>
        </p:nvSpPr>
        <p:spPr>
          <a:xfrm>
            <a:off x="868680" y="5184648"/>
            <a:ext cx="3017520" cy="365760"/>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Ammonia synthesis reactor</a:t>
            </a:r>
            <a:endParaRPr lang="en-US" sz="1700" dirty="0"/>
          </a:p>
        </p:txBody>
      </p:sp>
      <p:sp>
        <p:nvSpPr>
          <p:cNvPr id="23" name="Shape 21"/>
          <p:cNvSpPr/>
          <p:nvPr/>
        </p:nvSpPr>
        <p:spPr>
          <a:xfrm>
            <a:off x="868680" y="5641848"/>
            <a:ext cx="173736" cy="173736"/>
          </a:xfrm>
          <a:prstGeom prst="ellipse">
            <a:avLst/>
          </a:prstGeom>
          <a:solidFill>
            <a:srgbClr val="2E8B9E"/>
          </a:solidFill>
          <a:ln/>
        </p:spPr>
      </p:sp>
      <p:sp>
        <p:nvSpPr>
          <p:cNvPr id="24" name="Shape 22"/>
          <p:cNvSpPr/>
          <p:nvPr/>
        </p:nvSpPr>
        <p:spPr>
          <a:xfrm>
            <a:off x="1143000" y="5641848"/>
            <a:ext cx="173736" cy="173736"/>
          </a:xfrm>
          <a:prstGeom prst="ellipse">
            <a:avLst/>
          </a:prstGeom>
          <a:solidFill>
            <a:srgbClr val="C9552E"/>
          </a:solidFill>
          <a:ln/>
        </p:spPr>
      </p:sp>
      <p:sp>
        <p:nvSpPr>
          <p:cNvPr id="25" name="Shape 23"/>
          <p:cNvSpPr/>
          <p:nvPr/>
        </p:nvSpPr>
        <p:spPr>
          <a:xfrm>
            <a:off x="1417320" y="5641848"/>
            <a:ext cx="173736" cy="173736"/>
          </a:xfrm>
          <a:prstGeom prst="ellipse">
            <a:avLst/>
          </a:prstGeom>
          <a:solidFill>
            <a:srgbClr val="6B54A8"/>
          </a:solidFill>
          <a:ln/>
        </p:spPr>
      </p:sp>
      <p:sp>
        <p:nvSpPr>
          <p:cNvPr id="26" name="Text 24"/>
          <p:cNvSpPr/>
          <p:nvPr/>
        </p:nvSpPr>
        <p:spPr>
          <a:xfrm>
            <a:off x="4114800" y="5212080"/>
            <a:ext cx="7315200" cy="713232"/>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Gas through a packed bed · strongly exothermic duty removal · N₂ and H₂ diffusing to catalyst sites</a:t>
            </a:r>
            <a:endParaRPr lang="en-US" sz="1350" dirty="0"/>
          </a:p>
        </p:txBody>
      </p:sp>
      <p:sp>
        <p:nvSpPr>
          <p:cNvPr id="27" name="Text 25"/>
          <p:cNvSpPr/>
          <p:nvPr/>
        </p:nvSpPr>
        <p:spPr>
          <a:xfrm>
            <a:off x="548640" y="6309360"/>
            <a:ext cx="5486400" cy="2743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Dots show which transport modes are active.</a:t>
            </a:r>
            <a:endParaRPr lang="en-US" sz="1100" dirty="0"/>
          </a:p>
        </p:txBody>
      </p:sp>
      <p:sp>
        <p:nvSpPr>
          <p:cNvPr id="28" name="Text 26"/>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SCALE</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Three levels of description</a:t>
            </a:r>
            <a:endParaRPr lang="en-US" sz="3200" dirty="0"/>
          </a:p>
        </p:txBody>
      </p:sp>
      <p:sp>
        <p:nvSpPr>
          <p:cNvPr id="4" name="Shape 2"/>
          <p:cNvSpPr/>
          <p:nvPr/>
        </p:nvSpPr>
        <p:spPr>
          <a:xfrm>
            <a:off x="548640" y="1645920"/>
            <a:ext cx="3538728" cy="3749040"/>
          </a:xfrm>
          <a:prstGeom prst="rect">
            <a:avLst/>
          </a:prstGeom>
          <a:solidFill>
            <a:srgbClr val="F4F6F8"/>
          </a:solidFill>
          <a:ln/>
        </p:spPr>
      </p:sp>
      <p:sp>
        <p:nvSpPr>
          <p:cNvPr id="5" name="Text 3"/>
          <p:cNvSpPr/>
          <p:nvPr/>
        </p:nvSpPr>
        <p:spPr>
          <a:xfrm>
            <a:off x="822960" y="1874520"/>
            <a:ext cx="914400" cy="640080"/>
          </a:xfrm>
          <a:prstGeom prst="rect">
            <a:avLst/>
          </a:prstGeom>
          <a:noFill/>
          <a:ln/>
        </p:spPr>
        <p:txBody>
          <a:bodyPr wrap="square" lIns="0" tIns="0" rIns="0" bIns="0" rtlCol="0" anchor="ctr"/>
          <a:lstStyle/>
          <a:p>
            <a:pPr indent="0" marL="0">
              <a:buNone/>
            </a:pPr>
            <a:r>
              <a:rPr lang="en-US" sz="4400" b="1" dirty="0">
                <a:solidFill>
                  <a:srgbClr val="2E8B9E"/>
                </a:solidFill>
                <a:latin typeface="Cambria" pitchFamily="34" charset="0"/>
                <a:ea typeface="Cambria" pitchFamily="34" charset="-122"/>
                <a:cs typeface="Cambria" pitchFamily="34" charset="-120"/>
              </a:rPr>
              <a:t>1</a:t>
            </a:r>
            <a:endParaRPr lang="en-US" sz="4400" dirty="0"/>
          </a:p>
        </p:txBody>
      </p:sp>
      <p:sp>
        <p:nvSpPr>
          <p:cNvPr id="6" name="Text 4"/>
          <p:cNvSpPr/>
          <p:nvPr/>
        </p:nvSpPr>
        <p:spPr>
          <a:xfrm>
            <a:off x="822960" y="2606040"/>
            <a:ext cx="2926080" cy="365760"/>
          </a:xfrm>
          <a:prstGeom prst="rect">
            <a:avLst/>
          </a:prstGeom>
          <a:noFill/>
          <a:ln/>
        </p:spPr>
        <p:txBody>
          <a:bodyPr wrap="square" lIns="0" tIns="0" rIns="0" bIns="0" rtlCol="0" anchor="ctr"/>
          <a:lstStyle/>
          <a:p>
            <a:pPr indent="0" marL="0">
              <a:buNone/>
            </a:pPr>
            <a:r>
              <a:rPr lang="en-US" sz="2000" b="1" dirty="0">
                <a:solidFill>
                  <a:srgbClr val="13202C"/>
                </a:solidFill>
                <a:latin typeface="Cambria" pitchFamily="34" charset="0"/>
                <a:ea typeface="Cambria" pitchFamily="34" charset="-122"/>
                <a:cs typeface="Cambria" pitchFamily="34" charset="-120"/>
              </a:rPr>
              <a:t>Macroscopic</a:t>
            </a:r>
            <a:endParaRPr lang="en-US" sz="2000" dirty="0"/>
          </a:p>
        </p:txBody>
      </p:sp>
      <p:sp>
        <p:nvSpPr>
          <p:cNvPr id="7" name="Text 5"/>
          <p:cNvSpPr/>
          <p:nvPr/>
        </p:nvSpPr>
        <p:spPr>
          <a:xfrm>
            <a:off x="822960" y="3063240"/>
            <a:ext cx="2990088" cy="685800"/>
          </a:xfrm>
          <a:prstGeom prst="rect">
            <a:avLst/>
          </a:prstGeom>
          <a:noFill/>
          <a:ln/>
        </p:spPr>
        <p:txBody>
          <a:bodyPr wrap="square" lIns="0" tIns="0" rIns="0" bIns="0" rtlCol="0" anchor="ctr"/>
          <a:lstStyle/>
          <a:p>
            <a:pPr indent="0" marL="0">
              <a:lnSpc>
                <a:spcPts val="1900"/>
              </a:lnSpc>
              <a:buNone/>
            </a:pPr>
            <a:r>
              <a:rPr lang="en-US" sz="1400" i="1" dirty="0">
                <a:solidFill>
                  <a:srgbClr val="2E8B9E"/>
                </a:solidFill>
                <a:latin typeface="Calibri" pitchFamily="34" charset="0"/>
                <a:ea typeface="Calibri" pitchFamily="34" charset="-122"/>
                <a:cs typeface="Calibri" pitchFamily="34" charset="-120"/>
              </a:rPr>
              <a:t>What crosses the boundary of the whole vessel?</a:t>
            </a:r>
            <a:endParaRPr lang="en-US" sz="1400" dirty="0"/>
          </a:p>
        </p:txBody>
      </p:sp>
      <p:sp>
        <p:nvSpPr>
          <p:cNvPr id="8" name="Text 6"/>
          <p:cNvSpPr/>
          <p:nvPr/>
        </p:nvSpPr>
        <p:spPr>
          <a:xfrm>
            <a:off x="822960" y="3840480"/>
            <a:ext cx="2990088" cy="1005840"/>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Overall balances on mass, momentum, and energy. No interest in what happens inside.</a:t>
            </a:r>
            <a:endParaRPr lang="en-US" sz="1350" dirty="0"/>
          </a:p>
        </p:txBody>
      </p:sp>
      <p:sp>
        <p:nvSpPr>
          <p:cNvPr id="9" name="Text 7"/>
          <p:cNvSpPr/>
          <p:nvPr/>
        </p:nvSpPr>
        <p:spPr>
          <a:xfrm>
            <a:off x="822960" y="4937760"/>
            <a:ext cx="2990088" cy="320040"/>
          </a:xfrm>
          <a:prstGeom prst="rect">
            <a:avLst/>
          </a:prstGeom>
          <a:noFill/>
          <a:ln/>
        </p:spPr>
        <p:txBody>
          <a:bodyPr wrap="square" lIns="0" tIns="0" rIns="0" bIns="0" rtlCol="0" anchor="ctr"/>
          <a:lstStyle/>
          <a:p>
            <a:pPr indent="0" marL="0">
              <a:buNone/>
            </a:pPr>
            <a:r>
              <a:rPr lang="en-US" sz="1200" b="1" dirty="0">
                <a:solidFill>
                  <a:srgbClr val="6B7C8C"/>
                </a:solidFill>
                <a:latin typeface="Calibri" pitchFamily="34" charset="0"/>
                <a:ea typeface="Calibri" pitchFamily="34" charset="-122"/>
                <a:cs typeface="Calibri" pitchFamily="34" charset="-120"/>
              </a:rPr>
              <a:t>Macroscopic balance equations</a:t>
            </a:r>
            <a:endParaRPr lang="en-US" sz="1200" dirty="0"/>
          </a:p>
        </p:txBody>
      </p:sp>
      <p:sp>
        <p:nvSpPr>
          <p:cNvPr id="10" name="Shape 8"/>
          <p:cNvSpPr/>
          <p:nvPr/>
        </p:nvSpPr>
        <p:spPr>
          <a:xfrm>
            <a:off x="4270248" y="1645920"/>
            <a:ext cx="3538728" cy="3749040"/>
          </a:xfrm>
          <a:prstGeom prst="rect">
            <a:avLst/>
          </a:prstGeom>
          <a:solidFill>
            <a:srgbClr val="F4F6F8"/>
          </a:solidFill>
          <a:ln/>
        </p:spPr>
      </p:sp>
      <p:sp>
        <p:nvSpPr>
          <p:cNvPr id="11" name="Text 9"/>
          <p:cNvSpPr/>
          <p:nvPr/>
        </p:nvSpPr>
        <p:spPr>
          <a:xfrm>
            <a:off x="4544568" y="1874520"/>
            <a:ext cx="914400" cy="640080"/>
          </a:xfrm>
          <a:prstGeom prst="rect">
            <a:avLst/>
          </a:prstGeom>
          <a:noFill/>
          <a:ln/>
        </p:spPr>
        <p:txBody>
          <a:bodyPr wrap="square" lIns="0" tIns="0" rIns="0" bIns="0" rtlCol="0" anchor="ctr"/>
          <a:lstStyle/>
          <a:p>
            <a:pPr indent="0" marL="0">
              <a:buNone/>
            </a:pPr>
            <a:r>
              <a:rPr lang="en-US" sz="4400" b="1" dirty="0">
                <a:solidFill>
                  <a:srgbClr val="C9552E"/>
                </a:solidFill>
                <a:latin typeface="Cambria" pitchFamily="34" charset="0"/>
                <a:ea typeface="Cambria" pitchFamily="34" charset="-122"/>
                <a:cs typeface="Cambria" pitchFamily="34" charset="-120"/>
              </a:rPr>
              <a:t>2</a:t>
            </a:r>
            <a:endParaRPr lang="en-US" sz="4400" dirty="0"/>
          </a:p>
        </p:txBody>
      </p:sp>
      <p:sp>
        <p:nvSpPr>
          <p:cNvPr id="12" name="Text 10"/>
          <p:cNvSpPr/>
          <p:nvPr/>
        </p:nvSpPr>
        <p:spPr>
          <a:xfrm>
            <a:off x="4544568" y="2606040"/>
            <a:ext cx="2926080" cy="365760"/>
          </a:xfrm>
          <a:prstGeom prst="rect">
            <a:avLst/>
          </a:prstGeom>
          <a:noFill/>
          <a:ln/>
        </p:spPr>
        <p:txBody>
          <a:bodyPr wrap="square" lIns="0" tIns="0" rIns="0" bIns="0" rtlCol="0" anchor="ctr"/>
          <a:lstStyle/>
          <a:p>
            <a:pPr indent="0" marL="0">
              <a:buNone/>
            </a:pPr>
            <a:r>
              <a:rPr lang="en-US" sz="2000" b="1" dirty="0">
                <a:solidFill>
                  <a:srgbClr val="13202C"/>
                </a:solidFill>
                <a:latin typeface="Cambria" pitchFamily="34" charset="0"/>
                <a:ea typeface="Cambria" pitchFamily="34" charset="-122"/>
                <a:cs typeface="Cambria" pitchFamily="34" charset="-120"/>
              </a:rPr>
              <a:t>Microscopic</a:t>
            </a:r>
            <a:endParaRPr lang="en-US" sz="2000" dirty="0"/>
          </a:p>
        </p:txBody>
      </p:sp>
      <p:sp>
        <p:nvSpPr>
          <p:cNvPr id="13" name="Text 11"/>
          <p:cNvSpPr/>
          <p:nvPr/>
        </p:nvSpPr>
        <p:spPr>
          <a:xfrm>
            <a:off x="4544568" y="3063240"/>
            <a:ext cx="2990088" cy="685800"/>
          </a:xfrm>
          <a:prstGeom prst="rect">
            <a:avLst/>
          </a:prstGeom>
          <a:noFill/>
          <a:ln/>
        </p:spPr>
        <p:txBody>
          <a:bodyPr wrap="square" lIns="0" tIns="0" rIns="0" bIns="0" rtlCol="0" anchor="ctr"/>
          <a:lstStyle/>
          <a:p>
            <a:pPr indent="0" marL="0">
              <a:lnSpc>
                <a:spcPts val="1900"/>
              </a:lnSpc>
              <a:buNone/>
            </a:pPr>
            <a:r>
              <a:rPr lang="en-US" sz="1400" i="1" dirty="0">
                <a:solidFill>
                  <a:srgbClr val="C9552E"/>
                </a:solidFill>
                <a:latin typeface="Calibri" pitchFamily="34" charset="0"/>
                <a:ea typeface="Calibri" pitchFamily="34" charset="-122"/>
                <a:cs typeface="Calibri" pitchFamily="34" charset="-120"/>
              </a:rPr>
              <a:t>What happens in a small region inside the vessel?</a:t>
            </a:r>
            <a:endParaRPr lang="en-US" sz="1400" dirty="0"/>
          </a:p>
        </p:txBody>
      </p:sp>
      <p:sp>
        <p:nvSpPr>
          <p:cNvPr id="14" name="Text 12"/>
          <p:cNvSpPr/>
          <p:nvPr/>
        </p:nvSpPr>
        <p:spPr>
          <a:xfrm>
            <a:off x="4544568" y="3840480"/>
            <a:ext cx="2990088" cy="1005840"/>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Profiles of velocity, temperature, and concentration as functions of position and time.</a:t>
            </a:r>
            <a:endParaRPr lang="en-US" sz="1350" dirty="0"/>
          </a:p>
        </p:txBody>
      </p:sp>
      <p:sp>
        <p:nvSpPr>
          <p:cNvPr id="15" name="Text 13"/>
          <p:cNvSpPr/>
          <p:nvPr/>
        </p:nvSpPr>
        <p:spPr>
          <a:xfrm>
            <a:off x="4544568" y="4937760"/>
            <a:ext cx="2990088" cy="320040"/>
          </a:xfrm>
          <a:prstGeom prst="rect">
            <a:avLst/>
          </a:prstGeom>
          <a:noFill/>
          <a:ln/>
        </p:spPr>
        <p:txBody>
          <a:bodyPr wrap="square" lIns="0" tIns="0" rIns="0" bIns="0" rtlCol="0" anchor="ctr"/>
          <a:lstStyle/>
          <a:p>
            <a:pPr indent="0" marL="0">
              <a:buNone/>
            </a:pPr>
            <a:r>
              <a:rPr lang="en-US" sz="1200" b="1" dirty="0">
                <a:solidFill>
                  <a:srgbClr val="6B7C8C"/>
                </a:solidFill>
                <a:latin typeface="Calibri" pitchFamily="34" charset="0"/>
                <a:ea typeface="Calibri" pitchFamily="34" charset="-122"/>
                <a:cs typeface="Calibri" pitchFamily="34" charset="-120"/>
              </a:rPr>
              <a:t>Equations of change</a:t>
            </a:r>
            <a:endParaRPr lang="en-US" sz="1200" dirty="0"/>
          </a:p>
        </p:txBody>
      </p:sp>
      <p:sp>
        <p:nvSpPr>
          <p:cNvPr id="16" name="Shape 14"/>
          <p:cNvSpPr/>
          <p:nvPr/>
        </p:nvSpPr>
        <p:spPr>
          <a:xfrm>
            <a:off x="7991856" y="1645920"/>
            <a:ext cx="3538728" cy="3749040"/>
          </a:xfrm>
          <a:prstGeom prst="rect">
            <a:avLst/>
          </a:prstGeom>
          <a:solidFill>
            <a:srgbClr val="F4F6F8"/>
          </a:solidFill>
          <a:ln/>
        </p:spPr>
      </p:sp>
      <p:sp>
        <p:nvSpPr>
          <p:cNvPr id="17" name="Text 15"/>
          <p:cNvSpPr/>
          <p:nvPr/>
        </p:nvSpPr>
        <p:spPr>
          <a:xfrm>
            <a:off x="8266176" y="1874520"/>
            <a:ext cx="914400" cy="640080"/>
          </a:xfrm>
          <a:prstGeom prst="rect">
            <a:avLst/>
          </a:prstGeom>
          <a:noFill/>
          <a:ln/>
        </p:spPr>
        <p:txBody>
          <a:bodyPr wrap="square" lIns="0" tIns="0" rIns="0" bIns="0" rtlCol="0" anchor="ctr"/>
          <a:lstStyle/>
          <a:p>
            <a:pPr indent="0" marL="0">
              <a:buNone/>
            </a:pPr>
            <a:r>
              <a:rPr lang="en-US" sz="4400" b="1" dirty="0">
                <a:solidFill>
                  <a:srgbClr val="6B54A8"/>
                </a:solidFill>
                <a:latin typeface="Cambria" pitchFamily="34" charset="0"/>
                <a:ea typeface="Cambria" pitchFamily="34" charset="-122"/>
                <a:cs typeface="Cambria" pitchFamily="34" charset="-120"/>
              </a:rPr>
              <a:t>3</a:t>
            </a:r>
            <a:endParaRPr lang="en-US" sz="4400" dirty="0"/>
          </a:p>
        </p:txBody>
      </p:sp>
      <p:sp>
        <p:nvSpPr>
          <p:cNvPr id="18" name="Text 16"/>
          <p:cNvSpPr/>
          <p:nvPr/>
        </p:nvSpPr>
        <p:spPr>
          <a:xfrm>
            <a:off x="8266176" y="2606040"/>
            <a:ext cx="2926080" cy="365760"/>
          </a:xfrm>
          <a:prstGeom prst="rect">
            <a:avLst/>
          </a:prstGeom>
          <a:noFill/>
          <a:ln/>
        </p:spPr>
        <p:txBody>
          <a:bodyPr wrap="square" lIns="0" tIns="0" rIns="0" bIns="0" rtlCol="0" anchor="ctr"/>
          <a:lstStyle/>
          <a:p>
            <a:pPr indent="0" marL="0">
              <a:buNone/>
            </a:pPr>
            <a:r>
              <a:rPr lang="en-US" sz="2000" b="1" dirty="0">
                <a:solidFill>
                  <a:srgbClr val="13202C"/>
                </a:solidFill>
                <a:latin typeface="Cambria" pitchFamily="34" charset="0"/>
                <a:ea typeface="Cambria" pitchFamily="34" charset="-122"/>
                <a:cs typeface="Cambria" pitchFamily="34" charset="-120"/>
              </a:rPr>
              <a:t>Molecular</a:t>
            </a:r>
            <a:endParaRPr lang="en-US" sz="2000" dirty="0"/>
          </a:p>
        </p:txBody>
      </p:sp>
      <p:sp>
        <p:nvSpPr>
          <p:cNvPr id="19" name="Text 17"/>
          <p:cNvSpPr/>
          <p:nvPr/>
        </p:nvSpPr>
        <p:spPr>
          <a:xfrm>
            <a:off x="8266176" y="3063240"/>
            <a:ext cx="2990088" cy="685800"/>
          </a:xfrm>
          <a:prstGeom prst="rect">
            <a:avLst/>
          </a:prstGeom>
          <a:noFill/>
          <a:ln/>
        </p:spPr>
        <p:txBody>
          <a:bodyPr wrap="square" lIns="0" tIns="0" rIns="0" bIns="0" rtlCol="0" anchor="ctr"/>
          <a:lstStyle/>
          <a:p>
            <a:pPr indent="0" marL="0">
              <a:lnSpc>
                <a:spcPts val="1900"/>
              </a:lnSpc>
              <a:buNone/>
            </a:pPr>
            <a:r>
              <a:rPr lang="en-US" sz="1400" i="1" dirty="0">
                <a:solidFill>
                  <a:srgbClr val="6B54A8"/>
                </a:solidFill>
                <a:latin typeface="Calibri" pitchFamily="34" charset="0"/>
                <a:ea typeface="Calibri" pitchFamily="34" charset="-122"/>
                <a:cs typeface="Calibri" pitchFamily="34" charset="-120"/>
              </a:rPr>
              <a:t>What are the molecules themselves doing?</a:t>
            </a:r>
            <a:endParaRPr lang="en-US" sz="1400" dirty="0"/>
          </a:p>
        </p:txBody>
      </p:sp>
      <p:sp>
        <p:nvSpPr>
          <p:cNvPr id="20" name="Text 18"/>
          <p:cNvSpPr/>
          <p:nvPr/>
        </p:nvSpPr>
        <p:spPr>
          <a:xfrm>
            <a:off x="8266176" y="3840480"/>
            <a:ext cx="2990088" cy="1005840"/>
          </a:xfrm>
          <a:prstGeom prst="rect">
            <a:avLst/>
          </a:prstGeom>
          <a:noFill/>
          <a:ln/>
        </p:spPr>
        <p:txBody>
          <a:bodyPr wrap="square" lIns="0" tIns="0" rIns="0" bIns="0" rtlCol="0" anchor="ctr"/>
          <a:lstStyle/>
          <a:p>
            <a:pPr indent="0" marL="0">
              <a:lnSpc>
                <a:spcPts val="1800"/>
              </a:lnSpc>
              <a:buNone/>
            </a:pPr>
            <a:r>
              <a:rPr lang="en-US" sz="1350" dirty="0">
                <a:solidFill>
                  <a:srgbClr val="2B3947"/>
                </a:solidFill>
                <a:latin typeface="Calibri" pitchFamily="34" charset="0"/>
                <a:ea typeface="Calibri" pitchFamily="34" charset="-122"/>
                <a:cs typeface="Calibri" pitchFamily="34" charset="-120"/>
              </a:rPr>
              <a:t>Where the transport coefficients μ, k, and D</a:t>
            </a:r>
            <a:pPr indent="0" marL="0">
              <a:lnSpc>
                <a:spcPts val="1800"/>
              </a:lnSpc>
              <a:buNone/>
            </a:pPr>
            <a:r>
              <a:rPr lang="en-US" sz="1350" baseline="-40000" dirty="0">
                <a:solidFill>
                  <a:srgbClr val="2B3947"/>
                </a:solidFill>
                <a:latin typeface="Calibri" pitchFamily="34" charset="0"/>
                <a:ea typeface="Calibri" pitchFamily="34" charset="-122"/>
                <a:cs typeface="Calibri" pitchFamily="34" charset="-120"/>
              </a:rPr>
              <a:t>AB</a:t>
            </a:r>
            <a:pPr indent="0" marL="0">
              <a:lnSpc>
                <a:spcPts val="1800"/>
              </a:lnSpc>
              <a:buNone/>
            </a:pPr>
            <a:r>
              <a:rPr lang="en-US" sz="1350" dirty="0">
                <a:solidFill>
                  <a:srgbClr val="2B3947"/>
                </a:solidFill>
                <a:latin typeface="Calibri" pitchFamily="34" charset="0"/>
                <a:ea typeface="Calibri" pitchFamily="34" charset="-122"/>
                <a:cs typeface="Calibri" pitchFamily="34" charset="-120"/>
              </a:rPr>
              <a:t> come from in the first place.</a:t>
            </a:r>
            <a:endParaRPr lang="en-US" sz="1350" dirty="0"/>
          </a:p>
        </p:txBody>
      </p:sp>
      <p:sp>
        <p:nvSpPr>
          <p:cNvPr id="21" name="Text 19"/>
          <p:cNvSpPr/>
          <p:nvPr/>
        </p:nvSpPr>
        <p:spPr>
          <a:xfrm>
            <a:off x="8266176" y="4937760"/>
            <a:ext cx="2990088" cy="320040"/>
          </a:xfrm>
          <a:prstGeom prst="rect">
            <a:avLst/>
          </a:prstGeom>
          <a:noFill/>
          <a:ln/>
        </p:spPr>
        <p:txBody>
          <a:bodyPr wrap="square" lIns="0" tIns="0" rIns="0" bIns="0" rtlCol="0" anchor="ctr"/>
          <a:lstStyle/>
          <a:p>
            <a:pPr indent="0" marL="0">
              <a:buNone/>
            </a:pPr>
            <a:r>
              <a:rPr lang="en-US" sz="1200" b="1" dirty="0">
                <a:solidFill>
                  <a:srgbClr val="6B7C8C"/>
                </a:solidFill>
                <a:latin typeface="Calibri" pitchFamily="34" charset="0"/>
                <a:ea typeface="Calibri" pitchFamily="34" charset="-122"/>
                <a:cs typeface="Calibri" pitchFamily="34" charset="-120"/>
              </a:rPr>
              <a:t>Kinetic theory</a:t>
            </a:r>
            <a:endParaRPr lang="en-US" sz="1200" dirty="0"/>
          </a:p>
        </p:txBody>
      </p:sp>
      <p:sp>
        <p:nvSpPr>
          <p:cNvPr id="22" name="Text 20"/>
          <p:cNvSpPr/>
          <p:nvPr/>
        </p:nvSpPr>
        <p:spPr>
          <a:xfrm>
            <a:off x="548640" y="5715000"/>
            <a:ext cx="7315200" cy="2743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Bird, Stewart &amp; Lightfoot, Transport Phenomena, 2e — Fig. 0.2-1</a:t>
            </a:r>
            <a:endParaRPr lang="en-US" sz="1100" dirty="0"/>
          </a:p>
        </p:txBody>
      </p:sp>
      <p:sp>
        <p:nvSpPr>
          <p:cNvPr id="23" name="Text 21"/>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SCALE, CONCRETELY</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The same gas, described two ways</a:t>
            </a:r>
            <a:endParaRPr lang="en-US" sz="3200" dirty="0"/>
          </a:p>
        </p:txBody>
      </p:sp>
      <p:sp>
        <p:nvSpPr>
          <p:cNvPr id="4" name="Shape 2"/>
          <p:cNvSpPr/>
          <p:nvPr/>
        </p:nvSpPr>
        <p:spPr>
          <a:xfrm>
            <a:off x="548640" y="1645920"/>
            <a:ext cx="5394960" cy="3840480"/>
          </a:xfrm>
          <a:prstGeom prst="rect">
            <a:avLst/>
          </a:prstGeom>
          <a:solidFill>
            <a:srgbClr val="F4F6F8"/>
          </a:solidFill>
          <a:ln/>
        </p:spPr>
      </p:sp>
      <p:sp>
        <p:nvSpPr>
          <p:cNvPr id="5" name="Text 3"/>
          <p:cNvSpPr/>
          <p:nvPr/>
        </p:nvSpPr>
        <p:spPr>
          <a:xfrm>
            <a:off x="914400" y="1965960"/>
            <a:ext cx="3657600" cy="274320"/>
          </a:xfrm>
          <a:prstGeom prst="rect">
            <a:avLst/>
          </a:prstGeom>
          <a:noFill/>
          <a:ln/>
        </p:spPr>
        <p:txBody>
          <a:bodyPr wrap="square" lIns="0" tIns="0" rIns="0" bIns="0" rtlCol="0" anchor="ctr"/>
          <a:lstStyle/>
          <a:p>
            <a:pPr indent="0" marL="0">
              <a:buNone/>
            </a:pPr>
            <a:r>
              <a:rPr lang="en-US" sz="1200" b="1" spc="200" kern="0" dirty="0">
                <a:solidFill>
                  <a:srgbClr val="C9552E"/>
                </a:solidFill>
                <a:latin typeface="Calibri" pitchFamily="34" charset="0"/>
                <a:ea typeface="Calibri" pitchFamily="34" charset="-122"/>
                <a:cs typeface="Calibri" pitchFamily="34" charset="-120"/>
              </a:rPr>
              <a:t>MACROSCOPIC</a:t>
            </a:r>
            <a:endParaRPr lang="en-US" sz="1200" dirty="0"/>
          </a:p>
        </p:txBody>
      </p:sp>
      <p:sp>
        <p:nvSpPr>
          <p:cNvPr id="6" name="Text 4"/>
          <p:cNvSpPr/>
          <p:nvPr/>
        </p:nvSpPr>
        <p:spPr>
          <a:xfrm>
            <a:off x="914400" y="2377440"/>
            <a:ext cx="4663440" cy="548640"/>
          </a:xfrm>
          <a:prstGeom prst="rect">
            <a:avLst/>
          </a:prstGeom>
          <a:noFill/>
          <a:ln/>
        </p:spPr>
        <p:txBody>
          <a:bodyPr wrap="square" lIns="0" tIns="0" rIns="0" bIns="0" rtlCol="0" anchor="ctr"/>
          <a:lstStyle/>
          <a:p>
            <a:pPr indent="0" marL="0">
              <a:buNone/>
            </a:pPr>
            <a:r>
              <a:rPr lang="en-US" sz="2600" b="1" dirty="0">
                <a:solidFill>
                  <a:srgbClr val="13202C"/>
                </a:solidFill>
                <a:latin typeface="Cambria" pitchFamily="34" charset="0"/>
                <a:ea typeface="Cambria" pitchFamily="34" charset="-122"/>
                <a:cs typeface="Cambria" pitchFamily="34" charset="-120"/>
              </a:rPr>
              <a:t>Pressure.  Temperature.</a:t>
            </a:r>
            <a:endParaRPr lang="en-US" sz="2600" dirty="0"/>
          </a:p>
        </p:txBody>
      </p:sp>
      <p:sp>
        <p:nvSpPr>
          <p:cNvPr id="7" name="Text 5"/>
          <p:cNvSpPr/>
          <p:nvPr/>
        </p:nvSpPr>
        <p:spPr>
          <a:xfrm>
            <a:off x="914400" y="3108960"/>
            <a:ext cx="4663440" cy="1188720"/>
          </a:xfrm>
          <a:prstGeom prst="rect">
            <a:avLst/>
          </a:prstGeom>
          <a:noFill/>
          <a:ln/>
        </p:spPr>
        <p:txBody>
          <a:bodyPr wrap="square" lIns="0" tIns="0" rIns="0" bIns="0" rtlCol="0" anchor="ctr"/>
          <a:lstStyle/>
          <a:p>
            <a:pPr indent="0" marL="0">
              <a:lnSpc>
                <a:spcPts val="2100"/>
              </a:lnSpc>
              <a:buNone/>
            </a:pPr>
            <a:r>
              <a:rPr lang="en-US" sz="1450" dirty="0">
                <a:solidFill>
                  <a:srgbClr val="2B3947"/>
                </a:solidFill>
                <a:latin typeface="Calibri" pitchFamily="34" charset="0"/>
                <a:ea typeface="Calibri" pitchFamily="34" charset="-122"/>
                <a:cs typeface="Calibri" pitchFamily="34" charset="-120"/>
              </a:rPr>
              <a:t>One number for the whole vessel. What a gauge reads. Sufficient for an energy balance, useless for a boundary layer.</a:t>
            </a:r>
            <a:endParaRPr lang="en-US" sz="1450" dirty="0"/>
          </a:p>
        </p:txBody>
      </p:sp>
      <p:sp>
        <p:nvSpPr>
          <p:cNvPr id="8" name="Shape 6"/>
          <p:cNvSpPr/>
          <p:nvPr/>
        </p:nvSpPr>
        <p:spPr>
          <a:xfrm>
            <a:off x="6217920" y="1645920"/>
            <a:ext cx="5394960" cy="3840480"/>
          </a:xfrm>
          <a:prstGeom prst="rect">
            <a:avLst/>
          </a:prstGeom>
          <a:solidFill>
            <a:srgbClr val="13202C"/>
          </a:solidFill>
          <a:ln/>
        </p:spPr>
      </p:sp>
      <p:sp>
        <p:nvSpPr>
          <p:cNvPr id="9" name="Text 7"/>
          <p:cNvSpPr/>
          <p:nvPr/>
        </p:nvSpPr>
        <p:spPr>
          <a:xfrm>
            <a:off x="6583680" y="1965960"/>
            <a:ext cx="3657600" cy="274320"/>
          </a:xfrm>
          <a:prstGeom prst="rect">
            <a:avLst/>
          </a:prstGeom>
          <a:noFill/>
          <a:ln/>
        </p:spPr>
        <p:txBody>
          <a:bodyPr wrap="square" lIns="0" tIns="0" rIns="0" bIns="0" rtlCol="0" anchor="ctr"/>
          <a:lstStyle/>
          <a:p>
            <a:pPr indent="0" marL="0">
              <a:buNone/>
            </a:pPr>
            <a:r>
              <a:rPr lang="en-US" sz="1200" b="1" spc="200" kern="0" dirty="0">
                <a:solidFill>
                  <a:srgbClr val="5FC4D6"/>
                </a:solidFill>
                <a:latin typeface="Calibri" pitchFamily="34" charset="0"/>
                <a:ea typeface="Calibri" pitchFamily="34" charset="-122"/>
                <a:cs typeface="Calibri" pitchFamily="34" charset="-120"/>
              </a:rPr>
              <a:t>MICROSCOPIC</a:t>
            </a:r>
            <a:endParaRPr lang="en-US" sz="1200" dirty="0"/>
          </a:p>
        </p:txBody>
      </p:sp>
      <p:sp>
        <p:nvSpPr>
          <p:cNvPr id="10" name="Text 8"/>
          <p:cNvSpPr/>
          <p:nvPr/>
        </p:nvSpPr>
        <p:spPr>
          <a:xfrm>
            <a:off x="6583680" y="2377440"/>
            <a:ext cx="46634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Velocity.  Momentum.</a:t>
            </a:r>
            <a:endParaRPr lang="en-US" sz="2600" dirty="0"/>
          </a:p>
        </p:txBody>
      </p:sp>
      <p:sp>
        <p:nvSpPr>
          <p:cNvPr id="11" name="Text 9"/>
          <p:cNvSpPr/>
          <p:nvPr/>
        </p:nvSpPr>
        <p:spPr>
          <a:xfrm>
            <a:off x="6583680" y="3108960"/>
            <a:ext cx="4663440" cy="1280160"/>
          </a:xfrm>
          <a:prstGeom prst="rect">
            <a:avLst/>
          </a:prstGeom>
          <a:noFill/>
          <a:ln/>
        </p:spPr>
        <p:txBody>
          <a:bodyPr wrap="square" lIns="0" tIns="0" rIns="0" bIns="0" rtlCol="0" anchor="ctr"/>
          <a:lstStyle/>
          <a:p>
            <a:pPr indent="0" marL="0">
              <a:lnSpc>
                <a:spcPts val="2100"/>
              </a:lnSpc>
              <a:buNone/>
            </a:pPr>
            <a:r>
              <a:rPr lang="en-US" sz="1450" dirty="0">
                <a:solidFill>
                  <a:srgbClr val="C6CFD8"/>
                </a:solidFill>
                <a:latin typeface="Calibri" pitchFamily="34" charset="0"/>
                <a:ea typeface="Calibri" pitchFamily="34" charset="-122"/>
                <a:cs typeface="Calibri" pitchFamily="34" charset="-120"/>
              </a:rPr>
              <a:t>The kinetic motion of individual molecules. Average them and pressure and temperature emerge — they were never separate quantities.</a:t>
            </a:r>
            <a:endParaRPr lang="en-US" sz="1450" dirty="0"/>
          </a:p>
        </p:txBody>
      </p:sp>
      <p:sp>
        <p:nvSpPr>
          <p:cNvPr id="12" name="Text 10"/>
          <p:cNvSpPr/>
          <p:nvPr/>
        </p:nvSpPr>
        <p:spPr>
          <a:xfrm>
            <a:off x="548640" y="5760720"/>
            <a:ext cx="11064240" cy="365760"/>
          </a:xfrm>
          <a:prstGeom prst="rect">
            <a:avLst/>
          </a:prstGeom>
          <a:noFill/>
          <a:ln/>
        </p:spPr>
        <p:txBody>
          <a:bodyPr wrap="square" lIns="0" tIns="0" rIns="0" bIns="0" rtlCol="0" anchor="ctr"/>
          <a:lstStyle/>
          <a:p>
            <a:pPr indent="0" marL="0">
              <a:buNone/>
            </a:pPr>
            <a:r>
              <a:rPr lang="en-US" sz="1500" i="1" dirty="0">
                <a:solidFill>
                  <a:srgbClr val="6B7C8C"/>
                </a:solidFill>
                <a:latin typeface="Calibri" pitchFamily="34" charset="0"/>
                <a:ea typeface="Calibri" pitchFamily="34" charset="-122"/>
                <a:cs typeface="Calibri" pitchFamily="34" charset="-120"/>
              </a:rPr>
              <a:t>Temperature is not a property a molecule has. It is a statement about a population of them.</a:t>
            </a:r>
            <a:endParaRPr lang="en-US" sz="1500" dirty="0"/>
          </a:p>
        </p:txBody>
      </p:sp>
      <p:sp>
        <p:nvSpPr>
          <p:cNvPr id="13" name="Text 11"/>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02C"/>
        </a:solidFill>
      </p:bgPr>
    </p:bg>
    <p:spTree>
      <p:nvGrpSpPr>
        <p:cNvPr id="1" name=""/>
        <p:cNvGrpSpPr/>
        <p:nvPr/>
      </p:nvGrpSpPr>
      <p:grpSpPr>
        <a:xfrm>
          <a:off x="0" y="0"/>
          <a:ext cx="0" cy="0"/>
          <a:chOff x="0" y="0"/>
          <a:chExt cx="0" cy="0"/>
        </a:xfrm>
      </p:grpSpPr>
      <p:sp>
        <p:nvSpPr>
          <p:cNvPr id="2" name="Text 0"/>
          <p:cNvSpPr/>
          <p:nvPr/>
        </p:nvSpPr>
        <p:spPr>
          <a:xfrm>
            <a:off x="777240" y="1005840"/>
            <a:ext cx="7315200" cy="274320"/>
          </a:xfrm>
          <a:prstGeom prst="rect">
            <a:avLst/>
          </a:prstGeom>
          <a:noFill/>
          <a:ln/>
        </p:spPr>
        <p:txBody>
          <a:bodyPr wrap="square" lIns="0" tIns="0" rIns="0" bIns="0" rtlCol="0" anchor="ctr"/>
          <a:lstStyle/>
          <a:p>
            <a:pPr indent="0" marL="0">
              <a:buNone/>
            </a:pPr>
            <a:r>
              <a:rPr lang="en-US" sz="1100" b="1" spc="200" kern="0" dirty="0">
                <a:solidFill>
                  <a:srgbClr val="5FC4D6"/>
                </a:solidFill>
                <a:latin typeface="Calibri" pitchFamily="34" charset="0"/>
                <a:ea typeface="Calibri" pitchFamily="34" charset="-122"/>
                <a:cs typeface="Calibri" pitchFamily="34" charset="-120"/>
              </a:rPr>
              <a:t>The shape of every transport problem</a:t>
            </a:r>
            <a:endParaRPr lang="en-US" sz="1100" dirty="0"/>
          </a:p>
        </p:txBody>
      </p:sp>
      <p:sp>
        <p:nvSpPr>
          <p:cNvPr id="3" name="Text 1"/>
          <p:cNvSpPr/>
          <p:nvPr/>
        </p:nvSpPr>
        <p:spPr>
          <a:xfrm>
            <a:off x="777240" y="1920240"/>
            <a:ext cx="237744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Rate  =</a:t>
            </a:r>
            <a:endParaRPr lang="en-US" sz="3800" dirty="0"/>
          </a:p>
        </p:txBody>
      </p:sp>
      <p:sp>
        <p:nvSpPr>
          <p:cNvPr id="4" name="Text 2"/>
          <p:cNvSpPr/>
          <p:nvPr/>
        </p:nvSpPr>
        <p:spPr>
          <a:xfrm>
            <a:off x="3200400" y="1691640"/>
            <a:ext cx="3291840" cy="502920"/>
          </a:xfrm>
          <a:prstGeom prst="rect">
            <a:avLst/>
          </a:prstGeom>
          <a:noFill/>
          <a:ln/>
        </p:spPr>
        <p:txBody>
          <a:bodyPr wrap="square" lIns="0" tIns="0" rIns="0" bIns="0" rtlCol="0" anchor="ctr"/>
          <a:lstStyle/>
          <a:p>
            <a:pPr algn="ctr" indent="0" marL="0">
              <a:buNone/>
            </a:pPr>
            <a:r>
              <a:rPr lang="en-US" sz="3000" dirty="0">
                <a:solidFill>
                  <a:srgbClr val="FFFFFF"/>
                </a:solidFill>
                <a:latin typeface="Cambria" pitchFamily="34" charset="0"/>
                <a:ea typeface="Cambria" pitchFamily="34" charset="-122"/>
                <a:cs typeface="Cambria" pitchFamily="34" charset="-120"/>
              </a:rPr>
              <a:t>driving force</a:t>
            </a:r>
            <a:endParaRPr lang="en-US" sz="3000" dirty="0"/>
          </a:p>
        </p:txBody>
      </p:sp>
      <p:sp>
        <p:nvSpPr>
          <p:cNvPr id="5" name="Shape 3"/>
          <p:cNvSpPr/>
          <p:nvPr/>
        </p:nvSpPr>
        <p:spPr>
          <a:xfrm>
            <a:off x="3200400" y="2267712"/>
            <a:ext cx="3291840" cy="32004"/>
          </a:xfrm>
          <a:prstGeom prst="rect">
            <a:avLst/>
          </a:prstGeom>
          <a:solidFill>
            <a:srgbClr val="5FC4D6"/>
          </a:solidFill>
          <a:ln/>
        </p:spPr>
      </p:sp>
      <p:sp>
        <p:nvSpPr>
          <p:cNvPr id="6" name="Text 4"/>
          <p:cNvSpPr/>
          <p:nvPr/>
        </p:nvSpPr>
        <p:spPr>
          <a:xfrm>
            <a:off x="3200400" y="2395728"/>
            <a:ext cx="3291840" cy="502920"/>
          </a:xfrm>
          <a:prstGeom prst="rect">
            <a:avLst/>
          </a:prstGeom>
          <a:noFill/>
          <a:ln/>
        </p:spPr>
        <p:txBody>
          <a:bodyPr wrap="square" lIns="0" tIns="0" rIns="0" bIns="0" rtlCol="0" anchor="ctr"/>
          <a:lstStyle/>
          <a:p>
            <a:pPr algn="ctr" indent="0" marL="0">
              <a:buNone/>
            </a:pPr>
            <a:r>
              <a:rPr lang="en-US" sz="3000" dirty="0">
                <a:solidFill>
                  <a:srgbClr val="FFFFFF"/>
                </a:solidFill>
                <a:latin typeface="Cambria" pitchFamily="34" charset="0"/>
                <a:ea typeface="Cambria" pitchFamily="34" charset="-122"/>
                <a:cs typeface="Cambria" pitchFamily="34" charset="-120"/>
              </a:rPr>
              <a:t>resistance</a:t>
            </a:r>
            <a:endParaRPr lang="en-US" sz="3000" dirty="0"/>
          </a:p>
        </p:txBody>
      </p:sp>
      <p:sp>
        <p:nvSpPr>
          <p:cNvPr id="7" name="Text 5"/>
          <p:cNvSpPr/>
          <p:nvPr/>
        </p:nvSpPr>
        <p:spPr>
          <a:xfrm>
            <a:off x="777240" y="3566160"/>
            <a:ext cx="6949440" cy="1097280"/>
          </a:xfrm>
          <a:prstGeom prst="rect">
            <a:avLst/>
          </a:prstGeom>
          <a:noFill/>
          <a:ln/>
        </p:spPr>
        <p:txBody>
          <a:bodyPr wrap="square" lIns="0" tIns="0" rIns="0" bIns="0" rtlCol="0" anchor="ctr"/>
          <a:lstStyle/>
          <a:p>
            <a:pPr indent="0" marL="0">
              <a:lnSpc>
                <a:spcPts val="2400"/>
              </a:lnSpc>
              <a:buNone/>
            </a:pPr>
            <a:r>
              <a:rPr lang="en-US" sz="1600" dirty="0">
                <a:solidFill>
                  <a:srgbClr val="A8B6C2"/>
                </a:solidFill>
                <a:latin typeface="Calibri" pitchFamily="34" charset="0"/>
                <a:ea typeface="Calibri" pitchFamily="34" charset="-122"/>
                <a:cs typeface="Calibri" pitchFamily="34" charset="-120"/>
              </a:rPr>
              <a:t>Learn to read any transport problem this way and the algebra follows. Identify what is driving the transfer, identify what is impeding it, and the constitutive law writes itself.</a:t>
            </a:r>
            <a:endParaRPr lang="en-US" sz="1600" dirty="0"/>
          </a:p>
        </p:txBody>
      </p:sp>
      <p:sp>
        <p:nvSpPr>
          <p:cNvPr id="8" name="Shape 6"/>
          <p:cNvSpPr/>
          <p:nvPr/>
        </p:nvSpPr>
        <p:spPr>
          <a:xfrm>
            <a:off x="8138160" y="1737360"/>
            <a:ext cx="3246120" cy="841248"/>
          </a:xfrm>
          <a:prstGeom prst="rect">
            <a:avLst/>
          </a:prstGeom>
          <a:solidFill>
            <a:srgbClr val="1E2E3D"/>
          </a:solidFill>
          <a:ln/>
        </p:spPr>
      </p:sp>
      <p:sp>
        <p:nvSpPr>
          <p:cNvPr id="9" name="Shape 7"/>
          <p:cNvSpPr/>
          <p:nvPr/>
        </p:nvSpPr>
        <p:spPr>
          <a:xfrm>
            <a:off x="8412480" y="2048256"/>
            <a:ext cx="219456" cy="219456"/>
          </a:xfrm>
          <a:prstGeom prst="ellipse">
            <a:avLst/>
          </a:prstGeom>
          <a:solidFill>
            <a:srgbClr val="5FC4D6"/>
          </a:solidFill>
          <a:ln/>
        </p:spPr>
      </p:sp>
      <p:sp>
        <p:nvSpPr>
          <p:cNvPr id="10" name="Text 8"/>
          <p:cNvSpPr/>
          <p:nvPr/>
        </p:nvSpPr>
        <p:spPr>
          <a:xfrm>
            <a:off x="8778240" y="1847088"/>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Momentum</a:t>
            </a:r>
            <a:endParaRPr lang="en-US" sz="1400" dirty="0"/>
          </a:p>
        </p:txBody>
      </p:sp>
      <p:sp>
        <p:nvSpPr>
          <p:cNvPr id="11" name="Text 9"/>
          <p:cNvSpPr/>
          <p:nvPr/>
        </p:nvSpPr>
        <p:spPr>
          <a:xfrm>
            <a:off x="8778240" y="2167128"/>
            <a:ext cx="2377440" cy="292608"/>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Newton's law</a:t>
            </a:r>
            <a:endParaRPr lang="en-US" sz="1300" dirty="0"/>
          </a:p>
        </p:txBody>
      </p:sp>
      <p:sp>
        <p:nvSpPr>
          <p:cNvPr id="12" name="Shape 10"/>
          <p:cNvSpPr/>
          <p:nvPr/>
        </p:nvSpPr>
        <p:spPr>
          <a:xfrm>
            <a:off x="8138160" y="2788920"/>
            <a:ext cx="3246120" cy="841248"/>
          </a:xfrm>
          <a:prstGeom prst="rect">
            <a:avLst/>
          </a:prstGeom>
          <a:solidFill>
            <a:srgbClr val="1E2E3D"/>
          </a:solidFill>
          <a:ln/>
        </p:spPr>
      </p:sp>
      <p:sp>
        <p:nvSpPr>
          <p:cNvPr id="13" name="Shape 11"/>
          <p:cNvSpPr/>
          <p:nvPr/>
        </p:nvSpPr>
        <p:spPr>
          <a:xfrm>
            <a:off x="8412480" y="3099816"/>
            <a:ext cx="219456" cy="219456"/>
          </a:xfrm>
          <a:prstGeom prst="ellipse">
            <a:avLst/>
          </a:prstGeom>
          <a:solidFill>
            <a:srgbClr val="F0865C"/>
          </a:solidFill>
          <a:ln/>
        </p:spPr>
      </p:sp>
      <p:sp>
        <p:nvSpPr>
          <p:cNvPr id="14" name="Text 12"/>
          <p:cNvSpPr/>
          <p:nvPr/>
        </p:nvSpPr>
        <p:spPr>
          <a:xfrm>
            <a:off x="8778240" y="2898648"/>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Heat</a:t>
            </a:r>
            <a:endParaRPr lang="en-US" sz="1400" dirty="0"/>
          </a:p>
        </p:txBody>
      </p:sp>
      <p:sp>
        <p:nvSpPr>
          <p:cNvPr id="15" name="Text 13"/>
          <p:cNvSpPr/>
          <p:nvPr/>
        </p:nvSpPr>
        <p:spPr>
          <a:xfrm>
            <a:off x="8778240" y="3218688"/>
            <a:ext cx="2377440" cy="292608"/>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Fourier's law</a:t>
            </a:r>
            <a:endParaRPr lang="en-US" sz="1300" dirty="0"/>
          </a:p>
        </p:txBody>
      </p:sp>
      <p:sp>
        <p:nvSpPr>
          <p:cNvPr id="16" name="Shape 14"/>
          <p:cNvSpPr/>
          <p:nvPr/>
        </p:nvSpPr>
        <p:spPr>
          <a:xfrm>
            <a:off x="8138160" y="3840480"/>
            <a:ext cx="3246120" cy="841248"/>
          </a:xfrm>
          <a:prstGeom prst="rect">
            <a:avLst/>
          </a:prstGeom>
          <a:solidFill>
            <a:srgbClr val="1E2E3D"/>
          </a:solidFill>
          <a:ln/>
        </p:spPr>
      </p:sp>
      <p:sp>
        <p:nvSpPr>
          <p:cNvPr id="17" name="Shape 15"/>
          <p:cNvSpPr/>
          <p:nvPr/>
        </p:nvSpPr>
        <p:spPr>
          <a:xfrm>
            <a:off x="8412480" y="4151376"/>
            <a:ext cx="219456" cy="219456"/>
          </a:xfrm>
          <a:prstGeom prst="ellipse">
            <a:avLst/>
          </a:prstGeom>
          <a:solidFill>
            <a:srgbClr val="A78FE0"/>
          </a:solidFill>
          <a:ln/>
        </p:spPr>
      </p:sp>
      <p:sp>
        <p:nvSpPr>
          <p:cNvPr id="18" name="Text 16"/>
          <p:cNvSpPr/>
          <p:nvPr/>
        </p:nvSpPr>
        <p:spPr>
          <a:xfrm>
            <a:off x="8778240" y="3950208"/>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Mass</a:t>
            </a:r>
            <a:endParaRPr lang="en-US" sz="1400" dirty="0"/>
          </a:p>
        </p:txBody>
      </p:sp>
      <p:sp>
        <p:nvSpPr>
          <p:cNvPr id="19" name="Text 17"/>
          <p:cNvSpPr/>
          <p:nvPr/>
        </p:nvSpPr>
        <p:spPr>
          <a:xfrm>
            <a:off x="8778240" y="4270248"/>
            <a:ext cx="2377440" cy="292608"/>
          </a:xfrm>
          <a:prstGeom prst="rect">
            <a:avLst/>
          </a:prstGeom>
          <a:noFill/>
          <a:ln/>
        </p:spPr>
        <p:txBody>
          <a:bodyPr wrap="square" lIns="0" tIns="0" rIns="0" bIns="0" rtlCol="0" anchor="ctr"/>
          <a:lstStyle/>
          <a:p>
            <a:pPr indent="0" marL="0">
              <a:buNone/>
            </a:pPr>
            <a:r>
              <a:rPr lang="en-US" sz="1300" i="1" dirty="0">
                <a:solidFill>
                  <a:srgbClr val="8FA0AE"/>
                </a:solidFill>
                <a:latin typeface="Calibri" pitchFamily="34" charset="0"/>
                <a:ea typeface="Calibri" pitchFamily="34" charset="-122"/>
                <a:cs typeface="Calibri" pitchFamily="34" charset="-120"/>
              </a:rPr>
              <a:t>Fick's law</a:t>
            </a:r>
            <a:endParaRPr lang="en-US" sz="1300" dirty="0"/>
          </a:p>
        </p:txBody>
      </p:sp>
      <p:sp>
        <p:nvSpPr>
          <p:cNvPr id="20" name="Text 18"/>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MOMENTUM TRANSPORT</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Newton's law of viscosity</a:t>
            </a:r>
            <a:endParaRPr lang="en-US" sz="3200" dirty="0"/>
          </a:p>
        </p:txBody>
      </p:sp>
      <p:sp>
        <p:nvSpPr>
          <p:cNvPr id="4" name="Shape 2"/>
          <p:cNvSpPr/>
          <p:nvPr/>
        </p:nvSpPr>
        <p:spPr>
          <a:xfrm>
            <a:off x="548640" y="1554480"/>
            <a:ext cx="5852160" cy="1828800"/>
          </a:xfrm>
          <a:prstGeom prst="rect">
            <a:avLst/>
          </a:prstGeom>
          <a:solidFill>
            <a:srgbClr val="F4F6F8"/>
          </a:solidFill>
          <a:ln/>
        </p:spPr>
      </p:sp>
      <p:sp>
        <p:nvSpPr>
          <p:cNvPr id="5" name="Text 3"/>
          <p:cNvSpPr/>
          <p:nvPr/>
        </p:nvSpPr>
        <p:spPr>
          <a:xfrm>
            <a:off x="868680" y="1920240"/>
            <a:ext cx="5303520" cy="640080"/>
          </a:xfrm>
          <a:prstGeom prst="rect">
            <a:avLst/>
          </a:prstGeom>
          <a:noFill/>
          <a:ln/>
        </p:spPr>
        <p:txBody>
          <a:bodyPr wrap="square" lIns="0" tIns="0" rIns="0" bIns="0" rtlCol="0" anchor="ctr"/>
          <a:lstStyle/>
          <a:p>
            <a:pPr indent="0" marL="0">
              <a:buNone/>
            </a:pPr>
            <a:r>
              <a:rPr lang="en-US" sz="2600" b="1" dirty="0">
                <a:solidFill>
                  <a:srgbClr val="2E8B9E"/>
                </a:solidFill>
                <a:latin typeface="Courier New" pitchFamily="34" charset="0"/>
                <a:ea typeface="Courier New" pitchFamily="34" charset="-122"/>
                <a:cs typeface="Courier New" pitchFamily="34" charset="-120"/>
              </a:rPr>
              <a:t>τ</a:t>
            </a:r>
            <a:pPr indent="0" marL="0">
              <a:buNone/>
            </a:pPr>
            <a:r>
              <a:rPr lang="en-US" sz="2600" b="1" baseline="-40000" dirty="0">
                <a:solidFill>
                  <a:srgbClr val="2E8B9E"/>
                </a:solidFill>
                <a:latin typeface="Courier New" pitchFamily="34" charset="0"/>
                <a:ea typeface="Courier New" pitchFamily="34" charset="-122"/>
                <a:cs typeface="Courier New" pitchFamily="34" charset="-120"/>
              </a:rPr>
              <a:t>yx</a:t>
            </a:r>
            <a:pPr indent="0" marL="0">
              <a:buNone/>
            </a:pPr>
            <a:r>
              <a:rPr lang="en-US" sz="2600" b="1" dirty="0">
                <a:solidFill>
                  <a:srgbClr val="2E8B9E"/>
                </a:solidFill>
                <a:latin typeface="Courier New" pitchFamily="34" charset="0"/>
                <a:ea typeface="Courier New" pitchFamily="34" charset="-122"/>
                <a:cs typeface="Courier New" pitchFamily="34" charset="-120"/>
              </a:rPr>
              <a:t>  =  − μ · dv</a:t>
            </a:r>
            <a:pPr indent="0" marL="0">
              <a:buNone/>
            </a:pPr>
            <a:r>
              <a:rPr lang="en-US" sz="2600" b="1" baseline="-40000" dirty="0">
                <a:solidFill>
                  <a:srgbClr val="2E8B9E"/>
                </a:solidFill>
                <a:latin typeface="Courier New" pitchFamily="34" charset="0"/>
                <a:ea typeface="Courier New" pitchFamily="34" charset="-122"/>
                <a:cs typeface="Courier New" pitchFamily="34" charset="-120"/>
              </a:rPr>
              <a:t>x</a:t>
            </a:r>
            <a:pPr indent="0" marL="0">
              <a:buNone/>
            </a:pPr>
            <a:r>
              <a:rPr lang="en-US" sz="2600" b="1" dirty="0">
                <a:solidFill>
                  <a:srgbClr val="2E8B9E"/>
                </a:solidFill>
                <a:latin typeface="Courier New" pitchFamily="34" charset="0"/>
                <a:ea typeface="Courier New" pitchFamily="34" charset="-122"/>
                <a:cs typeface="Courier New" pitchFamily="34" charset="-120"/>
              </a:rPr>
              <a:t>/dy</a:t>
            </a:r>
            <a:endParaRPr lang="en-US" sz="2600" dirty="0"/>
          </a:p>
        </p:txBody>
      </p:sp>
      <p:sp>
        <p:nvSpPr>
          <p:cNvPr id="6" name="Text 4"/>
          <p:cNvSpPr/>
          <p:nvPr/>
        </p:nvSpPr>
        <p:spPr>
          <a:xfrm>
            <a:off x="868680" y="2651760"/>
            <a:ext cx="1828800" cy="274320"/>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(1.1-2)</a:t>
            </a:r>
            <a:endParaRPr lang="en-US" sz="1200" dirty="0"/>
          </a:p>
        </p:txBody>
      </p:sp>
      <p:sp>
        <p:nvSpPr>
          <p:cNvPr id="7" name="Text 5"/>
          <p:cNvSpPr/>
          <p:nvPr/>
        </p:nvSpPr>
        <p:spPr>
          <a:xfrm>
            <a:off x="6766560" y="1737360"/>
            <a:ext cx="484632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Read it as a force</a:t>
            </a:r>
            <a:endParaRPr lang="en-US" sz="1900" dirty="0"/>
          </a:p>
        </p:txBody>
      </p:sp>
      <p:sp>
        <p:nvSpPr>
          <p:cNvPr id="8" name="Text 6"/>
          <p:cNvSpPr/>
          <p:nvPr/>
        </p:nvSpPr>
        <p:spPr>
          <a:xfrm>
            <a:off x="6766560" y="2194560"/>
            <a:ext cx="4846320" cy="1371600"/>
          </a:xfrm>
          <a:prstGeom prst="rect">
            <a:avLst/>
          </a:prstGeom>
          <a:noFill/>
          <a:ln/>
        </p:spPr>
        <p:txBody>
          <a:bodyPr wrap="square" lIns="0" tIns="0" rIns="0" bIns="0" rtlCol="0" anchor="ctr"/>
          <a:lstStyle/>
          <a:p>
            <a:pPr indent="0" marL="0">
              <a:lnSpc>
                <a:spcPts val="2100"/>
              </a:lnSpc>
              <a:buNone/>
            </a:pPr>
            <a:r>
              <a:rPr lang="en-US" sz="1450" dirty="0">
                <a:solidFill>
                  <a:srgbClr val="2B3947"/>
                </a:solidFill>
                <a:latin typeface="Calibri" pitchFamily="34" charset="0"/>
                <a:ea typeface="Calibri" pitchFamily="34" charset="-122"/>
                <a:cs typeface="Calibri" pitchFamily="34" charset="-120"/>
              </a:rPr>
              <a:t>τ</a:t>
            </a:r>
            <a:pPr indent="0" marL="0">
              <a:lnSpc>
                <a:spcPts val="2100"/>
              </a:lnSpc>
              <a:buNone/>
            </a:pPr>
            <a:r>
              <a:rPr lang="en-US" sz="1450" baseline="-40000" dirty="0">
                <a:solidFill>
                  <a:srgbClr val="2B3947"/>
                </a:solidFill>
                <a:latin typeface="Calibri" pitchFamily="34" charset="0"/>
                <a:ea typeface="Calibri" pitchFamily="34" charset="-122"/>
                <a:cs typeface="Calibri" pitchFamily="34" charset="-120"/>
              </a:rPr>
              <a:t>yx</a:t>
            </a:r>
            <a:pPr indent="0" marL="0">
              <a:lnSpc>
                <a:spcPts val="2100"/>
              </a:lnSpc>
              <a:buNone/>
            </a:pPr>
            <a:r>
              <a:rPr lang="en-US" sz="1450" dirty="0">
                <a:solidFill>
                  <a:srgbClr val="2B3947"/>
                </a:solidFill>
                <a:latin typeface="Calibri" pitchFamily="34" charset="0"/>
                <a:ea typeface="Calibri" pitchFamily="34" charset="-122"/>
                <a:cs typeface="Calibri" pitchFamily="34" charset="-120"/>
              </a:rPr>
              <a:t> is the force in the x-direction acting on a unit area whose normal points in the y-direction. Momentum is being handed sideways, from fast fluid to slow.</a:t>
            </a:r>
            <a:endParaRPr lang="en-US" sz="1450" dirty="0"/>
          </a:p>
        </p:txBody>
      </p:sp>
      <p:sp>
        <p:nvSpPr>
          <p:cNvPr id="9" name="Text 7"/>
          <p:cNvSpPr/>
          <p:nvPr/>
        </p:nvSpPr>
        <p:spPr>
          <a:xfrm>
            <a:off x="548640" y="3749040"/>
            <a:ext cx="548640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The experiment behind it</a:t>
            </a:r>
            <a:endParaRPr lang="en-US" sz="1900" dirty="0"/>
          </a:p>
        </p:txBody>
      </p:sp>
      <p:sp>
        <p:nvSpPr>
          <p:cNvPr id="10" name="Text 8"/>
          <p:cNvSpPr/>
          <p:nvPr/>
        </p:nvSpPr>
        <p:spPr>
          <a:xfrm>
            <a:off x="548640" y="4206240"/>
            <a:ext cx="5852160" cy="1737360"/>
          </a:xfrm>
          <a:prstGeom prst="rect">
            <a:avLst/>
          </a:prstGeom>
          <a:noFill/>
          <a:ln/>
        </p:spPr>
        <p:txBody>
          <a:bodyPr wrap="square" lIns="0" tIns="0" rIns="0" bIns="0" rtlCol="0" anchor="ctr"/>
          <a:lstStyle/>
          <a:p>
            <a:pPr marL="342900" indent="-342900">
              <a:lnSpc>
                <a:spcPts val="1900"/>
              </a:lnSpc>
              <a:spcAft>
                <a:spcPts val="500"/>
              </a:spcAft>
              <a:buSzPct val="100000"/>
              <a:buChar char="•"/>
            </a:pPr>
            <a:r>
              <a:rPr lang="en-US" sz="1400" dirty="0">
                <a:solidFill>
                  <a:srgbClr val="2B3947"/>
                </a:solidFill>
                <a:latin typeface="Calibri" pitchFamily="34" charset="0"/>
                <a:ea typeface="Calibri" pitchFamily="34" charset="-122"/>
                <a:cs typeface="Calibri" pitchFamily="34" charset="-120"/>
              </a:rPr>
              <a:t>Fluid at rest between two plates, separation Y.</a:t>
            </a:r>
            <a:endParaRPr lang="en-US" sz="1400" dirty="0"/>
          </a:p>
          <a:p>
            <a:pPr marL="342900" indent="-342900">
              <a:lnSpc>
                <a:spcPts val="1900"/>
              </a:lnSpc>
              <a:spcAft>
                <a:spcPts val="500"/>
              </a:spcAft>
              <a:buSzPct val="100000"/>
              <a:buChar char="•"/>
            </a:pPr>
            <a:r>
              <a:rPr lang="en-US" sz="1400" dirty="0">
                <a:solidFill>
                  <a:srgbClr val="2B3947"/>
                </a:solidFill>
                <a:latin typeface="Calibri" pitchFamily="34" charset="0"/>
                <a:ea typeface="Calibri" pitchFamily="34" charset="-122"/>
                <a:cs typeface="Calibri" pitchFamily="34" charset="-120"/>
              </a:rPr>
              <a:t>The lower plate is set in motion at velocity V.</a:t>
            </a:r>
            <a:endParaRPr lang="en-US" sz="1400" dirty="0"/>
          </a:p>
          <a:p>
            <a:pPr marL="342900" indent="-342900">
              <a:lnSpc>
                <a:spcPts val="1900"/>
              </a:lnSpc>
              <a:spcAft>
                <a:spcPts val="500"/>
              </a:spcAft>
              <a:buSzPct val="100000"/>
              <a:buChar char="•"/>
            </a:pPr>
            <a:r>
              <a:rPr lang="en-US" sz="1400" dirty="0">
                <a:solidFill>
                  <a:srgbClr val="2B3947"/>
                </a:solidFill>
                <a:latin typeface="Calibri" pitchFamily="34" charset="0"/>
                <a:ea typeface="Calibri" pitchFamily="34" charset="-122"/>
                <a:cs typeface="Calibri" pitchFamily="34" charset="-120"/>
              </a:rPr>
              <a:t>Momentum diffuses upward; a velocity profile builds.</a:t>
            </a:r>
            <a:endParaRPr lang="en-US" sz="1400" dirty="0"/>
          </a:p>
          <a:p>
            <a:pPr marL="342900" indent="-342900">
              <a:lnSpc>
                <a:spcPts val="1900"/>
              </a:lnSpc>
              <a:spcAft>
                <a:spcPts val="500"/>
              </a:spcAft>
              <a:buSzPct val="100000"/>
              <a:buChar char="•"/>
            </a:pPr>
            <a:r>
              <a:rPr lang="en-US" sz="1400" dirty="0">
                <a:solidFill>
                  <a:srgbClr val="2B3947"/>
                </a:solidFill>
                <a:latin typeface="Calibri" pitchFamily="34" charset="0"/>
                <a:ea typeface="Calibri" pitchFamily="34" charset="-122"/>
                <a:cs typeface="Calibri" pitchFamily="34" charset="-120"/>
              </a:rPr>
              <a:t>At steady state the profile is linear: F/A = μV/Y.</a:t>
            </a:r>
            <a:endParaRPr lang="en-US" sz="1400" dirty="0"/>
          </a:p>
        </p:txBody>
      </p:sp>
      <p:sp>
        <p:nvSpPr>
          <p:cNvPr id="11" name="Shape 9"/>
          <p:cNvSpPr/>
          <p:nvPr/>
        </p:nvSpPr>
        <p:spPr>
          <a:xfrm>
            <a:off x="6766560" y="3886200"/>
            <a:ext cx="4846320" cy="2011680"/>
          </a:xfrm>
          <a:prstGeom prst="rect">
            <a:avLst/>
          </a:prstGeom>
          <a:solidFill>
            <a:srgbClr val="F4F6F8"/>
          </a:solidFill>
          <a:ln/>
        </p:spPr>
      </p:sp>
      <p:sp>
        <p:nvSpPr>
          <p:cNvPr id="12" name="Text 10"/>
          <p:cNvSpPr/>
          <p:nvPr/>
        </p:nvSpPr>
        <p:spPr>
          <a:xfrm>
            <a:off x="7086600" y="4114800"/>
            <a:ext cx="4206240" cy="320040"/>
          </a:xfrm>
          <a:prstGeom prst="rect">
            <a:avLst/>
          </a:prstGeom>
          <a:noFill/>
          <a:ln/>
        </p:spPr>
        <p:txBody>
          <a:bodyPr wrap="square" lIns="0" tIns="0" rIns="0" bIns="0" rtlCol="0" anchor="ctr"/>
          <a:lstStyle/>
          <a:p>
            <a:pPr indent="0" marL="0">
              <a:buNone/>
            </a:pPr>
            <a:r>
              <a:rPr lang="en-US" sz="1200" b="1" spc="200" kern="0" dirty="0">
                <a:solidFill>
                  <a:srgbClr val="6B7C8C"/>
                </a:solidFill>
                <a:latin typeface="Calibri" pitchFamily="34" charset="0"/>
                <a:ea typeface="Calibri" pitchFamily="34" charset="-122"/>
                <a:cs typeface="Calibri" pitchFamily="34" charset="-120"/>
              </a:rPr>
              <a:t>Kinematic viscosity</a:t>
            </a:r>
            <a:endParaRPr lang="en-US" sz="1200" dirty="0"/>
          </a:p>
        </p:txBody>
      </p:sp>
      <p:sp>
        <p:nvSpPr>
          <p:cNvPr id="13" name="Text 11"/>
          <p:cNvSpPr/>
          <p:nvPr/>
        </p:nvSpPr>
        <p:spPr>
          <a:xfrm>
            <a:off x="7086600" y="4480560"/>
            <a:ext cx="4206240" cy="502920"/>
          </a:xfrm>
          <a:prstGeom prst="rect">
            <a:avLst/>
          </a:prstGeom>
          <a:noFill/>
          <a:ln/>
        </p:spPr>
        <p:txBody>
          <a:bodyPr wrap="square" lIns="0" tIns="0" rIns="0" bIns="0" rtlCol="0" anchor="ctr"/>
          <a:lstStyle/>
          <a:p>
            <a:pPr indent="0" marL="0">
              <a:buNone/>
            </a:pPr>
            <a:r>
              <a:rPr lang="en-US" sz="2400" b="1" dirty="0">
                <a:solidFill>
                  <a:srgbClr val="2E8B9E"/>
                </a:solidFill>
                <a:latin typeface="Courier New" pitchFamily="34" charset="0"/>
                <a:ea typeface="Courier New" pitchFamily="34" charset="-122"/>
                <a:cs typeface="Courier New" pitchFamily="34" charset="-120"/>
              </a:rPr>
              <a:t>ν  =  μ / ρ</a:t>
            </a:r>
            <a:endParaRPr lang="en-US" sz="2400" dirty="0"/>
          </a:p>
        </p:txBody>
      </p:sp>
      <p:sp>
        <p:nvSpPr>
          <p:cNvPr id="14" name="Text 12"/>
          <p:cNvSpPr/>
          <p:nvPr/>
        </p:nvSpPr>
        <p:spPr>
          <a:xfrm>
            <a:off x="7086600" y="5074920"/>
            <a:ext cx="4206240" cy="685800"/>
          </a:xfrm>
          <a:prstGeom prst="rect">
            <a:avLst/>
          </a:prstGeom>
          <a:noFill/>
          <a:ln/>
        </p:spPr>
        <p:txBody>
          <a:bodyPr wrap="square" lIns="0" tIns="0" rIns="0" bIns="0" rtlCol="0" anchor="ctr"/>
          <a:lstStyle/>
          <a:p>
            <a:pPr indent="0" marL="0">
              <a:lnSpc>
                <a:spcPts val="1800"/>
              </a:lnSpc>
              <a:buNone/>
            </a:pPr>
            <a:r>
              <a:rPr lang="en-US" sz="1300" dirty="0">
                <a:solidFill>
                  <a:srgbClr val="2B3947"/>
                </a:solidFill>
                <a:latin typeface="Calibri" pitchFamily="34" charset="0"/>
                <a:ea typeface="Calibri" pitchFamily="34" charset="-122"/>
                <a:cs typeface="Calibri" pitchFamily="34" charset="-120"/>
              </a:rPr>
              <a:t>Units: m²/s. Remember this — it is what makes the analogy work three slides from now.</a:t>
            </a:r>
            <a:endParaRPr lang="en-US" sz="1300" dirty="0"/>
          </a:p>
        </p:txBody>
      </p:sp>
      <p:sp>
        <p:nvSpPr>
          <p:cNvPr id="15" name="Text 13"/>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ENERGY TRANSPORT</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Fourier's law of heat conduction</a:t>
            </a:r>
            <a:endParaRPr lang="en-US" sz="3200" dirty="0"/>
          </a:p>
        </p:txBody>
      </p:sp>
      <p:sp>
        <p:nvSpPr>
          <p:cNvPr id="4" name="Shape 2"/>
          <p:cNvSpPr/>
          <p:nvPr/>
        </p:nvSpPr>
        <p:spPr>
          <a:xfrm>
            <a:off x="548640" y="1554480"/>
            <a:ext cx="5852160" cy="1828800"/>
          </a:xfrm>
          <a:prstGeom prst="rect">
            <a:avLst/>
          </a:prstGeom>
          <a:solidFill>
            <a:srgbClr val="F4F6F8"/>
          </a:solidFill>
          <a:ln/>
        </p:spPr>
      </p:sp>
      <p:sp>
        <p:nvSpPr>
          <p:cNvPr id="5" name="Text 3"/>
          <p:cNvSpPr/>
          <p:nvPr/>
        </p:nvSpPr>
        <p:spPr>
          <a:xfrm>
            <a:off x="868680" y="1920240"/>
            <a:ext cx="5303520" cy="640080"/>
          </a:xfrm>
          <a:prstGeom prst="rect">
            <a:avLst/>
          </a:prstGeom>
          <a:noFill/>
          <a:ln/>
        </p:spPr>
        <p:txBody>
          <a:bodyPr wrap="square" lIns="0" tIns="0" rIns="0" bIns="0" rtlCol="0" anchor="ctr"/>
          <a:lstStyle/>
          <a:p>
            <a:pPr indent="0" marL="0">
              <a:buNone/>
            </a:pPr>
            <a:r>
              <a:rPr lang="en-US" sz="2600" b="1" dirty="0">
                <a:solidFill>
                  <a:srgbClr val="C9552E"/>
                </a:solidFill>
                <a:latin typeface="Courier New" pitchFamily="34" charset="0"/>
                <a:ea typeface="Courier New" pitchFamily="34" charset="-122"/>
                <a:cs typeface="Courier New" pitchFamily="34" charset="-120"/>
              </a:rPr>
              <a:t>q</a:t>
            </a:r>
            <a:pPr indent="0" marL="0">
              <a:buNone/>
            </a:pPr>
            <a:r>
              <a:rPr lang="en-US" sz="2600" b="1" baseline="-40000" dirty="0">
                <a:solidFill>
                  <a:srgbClr val="C9552E"/>
                </a:solidFill>
                <a:latin typeface="Courier New" pitchFamily="34" charset="0"/>
                <a:ea typeface="Courier New" pitchFamily="34" charset="-122"/>
                <a:cs typeface="Courier New" pitchFamily="34" charset="-120"/>
              </a:rPr>
              <a:t>y</a:t>
            </a:r>
            <a:pPr indent="0" marL="0">
              <a:buNone/>
            </a:pPr>
            <a:r>
              <a:rPr lang="en-US" sz="2600" b="1" dirty="0">
                <a:solidFill>
                  <a:srgbClr val="C9552E"/>
                </a:solidFill>
                <a:latin typeface="Courier New" pitchFamily="34" charset="0"/>
                <a:ea typeface="Courier New" pitchFamily="34" charset="-122"/>
                <a:cs typeface="Courier New" pitchFamily="34" charset="-120"/>
              </a:rPr>
              <a:t>  =  − k · dT/dy</a:t>
            </a:r>
            <a:endParaRPr lang="en-US" sz="2600" dirty="0"/>
          </a:p>
        </p:txBody>
      </p:sp>
      <p:sp>
        <p:nvSpPr>
          <p:cNvPr id="6" name="Text 4"/>
          <p:cNvSpPr/>
          <p:nvPr/>
        </p:nvSpPr>
        <p:spPr>
          <a:xfrm>
            <a:off x="868680" y="2651760"/>
            <a:ext cx="1828800" cy="274320"/>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(9.1-2)</a:t>
            </a:r>
            <a:endParaRPr lang="en-US" sz="1200" dirty="0"/>
          </a:p>
        </p:txBody>
      </p:sp>
      <p:sp>
        <p:nvSpPr>
          <p:cNvPr id="7" name="Text 5"/>
          <p:cNvSpPr/>
          <p:nvPr/>
        </p:nvSpPr>
        <p:spPr>
          <a:xfrm>
            <a:off x="6766560" y="1737360"/>
            <a:ext cx="484632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The identical experiment</a:t>
            </a:r>
            <a:endParaRPr lang="en-US" sz="1900" dirty="0"/>
          </a:p>
        </p:txBody>
      </p:sp>
      <p:sp>
        <p:nvSpPr>
          <p:cNvPr id="8" name="Text 6"/>
          <p:cNvSpPr/>
          <p:nvPr/>
        </p:nvSpPr>
        <p:spPr>
          <a:xfrm>
            <a:off x="6766560" y="2194560"/>
            <a:ext cx="4846320" cy="1371600"/>
          </a:xfrm>
          <a:prstGeom prst="rect">
            <a:avLst/>
          </a:prstGeom>
          <a:noFill/>
          <a:ln/>
        </p:spPr>
        <p:txBody>
          <a:bodyPr wrap="square" lIns="0" tIns="0" rIns="0" bIns="0" rtlCol="0" anchor="ctr"/>
          <a:lstStyle/>
          <a:p>
            <a:pPr indent="0" marL="0">
              <a:lnSpc>
                <a:spcPts val="2100"/>
              </a:lnSpc>
              <a:buNone/>
            </a:pPr>
            <a:r>
              <a:rPr lang="en-US" sz="1450" dirty="0">
                <a:solidFill>
                  <a:srgbClr val="2B3947"/>
                </a:solidFill>
                <a:latin typeface="Calibri" pitchFamily="34" charset="0"/>
                <a:ea typeface="Calibri" pitchFamily="34" charset="-122"/>
                <a:cs typeface="Calibri" pitchFamily="34" charset="-120"/>
              </a:rPr>
              <a:t>A solid slab initially at T₀. The lower face is raised to T₁. Heat diffuses upward, a temperature profile builds, and at steady state Q/A = k(T₁−T₀)/Y.</a:t>
            </a:r>
            <a:endParaRPr lang="en-US" sz="1450" dirty="0"/>
          </a:p>
        </p:txBody>
      </p:sp>
      <p:sp>
        <p:nvSpPr>
          <p:cNvPr id="9" name="Text 7"/>
          <p:cNvSpPr/>
          <p:nvPr/>
        </p:nvSpPr>
        <p:spPr>
          <a:xfrm>
            <a:off x="548640" y="3749040"/>
            <a:ext cx="594360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Compare with the previous slide</a:t>
            </a:r>
            <a:endParaRPr lang="en-US" sz="1900" dirty="0"/>
          </a:p>
        </p:txBody>
      </p:sp>
      <p:sp>
        <p:nvSpPr>
          <p:cNvPr id="10" name="Text 8"/>
          <p:cNvSpPr/>
          <p:nvPr/>
        </p:nvSpPr>
        <p:spPr>
          <a:xfrm>
            <a:off x="548640" y="4251960"/>
            <a:ext cx="2194560" cy="365760"/>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Flux</a:t>
            </a:r>
            <a:endParaRPr lang="en-US" sz="1300" dirty="0"/>
          </a:p>
        </p:txBody>
      </p:sp>
      <p:sp>
        <p:nvSpPr>
          <p:cNvPr id="11" name="Text 9"/>
          <p:cNvSpPr/>
          <p:nvPr/>
        </p:nvSpPr>
        <p:spPr>
          <a:xfrm>
            <a:off x="2834640" y="4251960"/>
            <a:ext cx="1828800" cy="365760"/>
          </a:xfrm>
          <a:prstGeom prst="rect">
            <a:avLst/>
          </a:prstGeom>
          <a:noFill/>
          <a:ln/>
        </p:spPr>
        <p:txBody>
          <a:bodyPr wrap="square" lIns="0" tIns="0" rIns="0" bIns="0" rtlCol="0" anchor="ctr"/>
          <a:lstStyle/>
          <a:p>
            <a:pPr indent="0" marL="0">
              <a:buNone/>
            </a:pPr>
            <a:r>
              <a:rPr lang="en-US" sz="1300" b="1" dirty="0">
                <a:solidFill>
                  <a:srgbClr val="2E8B9E"/>
                </a:solidFill>
                <a:latin typeface="Courier New" pitchFamily="34" charset="0"/>
                <a:ea typeface="Courier New" pitchFamily="34" charset="-122"/>
                <a:cs typeface="Courier New" pitchFamily="34" charset="-120"/>
              </a:rPr>
              <a:t>τ</a:t>
            </a:r>
            <a:pPr indent="0" marL="0">
              <a:buNone/>
            </a:pPr>
            <a:r>
              <a:rPr lang="en-US" sz="1300" b="1" baseline="-40000" dirty="0">
                <a:solidFill>
                  <a:srgbClr val="2E8B9E"/>
                </a:solidFill>
                <a:latin typeface="Courier New" pitchFamily="34" charset="0"/>
                <a:ea typeface="Courier New" pitchFamily="34" charset="-122"/>
                <a:cs typeface="Courier New" pitchFamily="34" charset="-120"/>
              </a:rPr>
              <a:t>yx</a:t>
            </a:r>
            <a:endParaRPr lang="en-US" sz="1300" dirty="0"/>
          </a:p>
        </p:txBody>
      </p:sp>
      <p:sp>
        <p:nvSpPr>
          <p:cNvPr id="12" name="Text 10"/>
          <p:cNvSpPr/>
          <p:nvPr/>
        </p:nvSpPr>
        <p:spPr>
          <a:xfrm>
            <a:off x="4663440" y="4251960"/>
            <a:ext cx="2011680" cy="365760"/>
          </a:xfrm>
          <a:prstGeom prst="rect">
            <a:avLst/>
          </a:prstGeom>
          <a:noFill/>
          <a:ln/>
        </p:spPr>
        <p:txBody>
          <a:bodyPr wrap="square" lIns="0" tIns="0" rIns="0" bIns="0" rtlCol="0" anchor="ctr"/>
          <a:lstStyle/>
          <a:p>
            <a:pPr indent="0" marL="0">
              <a:buNone/>
            </a:pPr>
            <a:r>
              <a:rPr lang="en-US" sz="1300" b="1" dirty="0">
                <a:solidFill>
                  <a:srgbClr val="C9552E"/>
                </a:solidFill>
                <a:latin typeface="Courier New" pitchFamily="34" charset="0"/>
                <a:ea typeface="Courier New" pitchFamily="34" charset="-122"/>
                <a:cs typeface="Courier New" pitchFamily="34" charset="-120"/>
              </a:rPr>
              <a:t>q</a:t>
            </a:r>
            <a:pPr indent="0" marL="0">
              <a:buNone/>
            </a:pPr>
            <a:r>
              <a:rPr lang="en-US" sz="1300" b="1" baseline="-40000" dirty="0">
                <a:solidFill>
                  <a:srgbClr val="C9552E"/>
                </a:solidFill>
                <a:latin typeface="Courier New" pitchFamily="34" charset="0"/>
                <a:ea typeface="Courier New" pitchFamily="34" charset="-122"/>
                <a:cs typeface="Courier New" pitchFamily="34" charset="-120"/>
              </a:rPr>
              <a:t>y</a:t>
            </a:r>
            <a:endParaRPr lang="en-US" sz="1300" dirty="0"/>
          </a:p>
        </p:txBody>
      </p:sp>
      <p:sp>
        <p:nvSpPr>
          <p:cNvPr id="13" name="Text 11"/>
          <p:cNvSpPr/>
          <p:nvPr/>
        </p:nvSpPr>
        <p:spPr>
          <a:xfrm>
            <a:off x="548640" y="4672584"/>
            <a:ext cx="2194560" cy="365760"/>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Coefficient</a:t>
            </a:r>
            <a:endParaRPr lang="en-US" sz="1300" dirty="0"/>
          </a:p>
        </p:txBody>
      </p:sp>
      <p:sp>
        <p:nvSpPr>
          <p:cNvPr id="14" name="Text 12"/>
          <p:cNvSpPr/>
          <p:nvPr/>
        </p:nvSpPr>
        <p:spPr>
          <a:xfrm>
            <a:off x="2834640" y="4672584"/>
            <a:ext cx="1828800" cy="365760"/>
          </a:xfrm>
          <a:prstGeom prst="rect">
            <a:avLst/>
          </a:prstGeom>
          <a:noFill/>
          <a:ln/>
        </p:spPr>
        <p:txBody>
          <a:bodyPr wrap="square" lIns="0" tIns="0" rIns="0" bIns="0" rtlCol="0" anchor="ctr"/>
          <a:lstStyle/>
          <a:p>
            <a:pPr indent="0" marL="0">
              <a:buNone/>
            </a:pPr>
            <a:r>
              <a:rPr lang="en-US" sz="1300" b="1" dirty="0">
                <a:solidFill>
                  <a:srgbClr val="2E8B9E"/>
                </a:solidFill>
                <a:latin typeface="Courier New" pitchFamily="34" charset="0"/>
                <a:ea typeface="Courier New" pitchFamily="34" charset="-122"/>
                <a:cs typeface="Courier New" pitchFamily="34" charset="-120"/>
              </a:rPr>
              <a:t>μ</a:t>
            </a:r>
            <a:endParaRPr lang="en-US" sz="1300" dirty="0"/>
          </a:p>
        </p:txBody>
      </p:sp>
      <p:sp>
        <p:nvSpPr>
          <p:cNvPr id="15" name="Text 13"/>
          <p:cNvSpPr/>
          <p:nvPr/>
        </p:nvSpPr>
        <p:spPr>
          <a:xfrm>
            <a:off x="4663440" y="4672584"/>
            <a:ext cx="2011680" cy="365760"/>
          </a:xfrm>
          <a:prstGeom prst="rect">
            <a:avLst/>
          </a:prstGeom>
          <a:noFill/>
          <a:ln/>
        </p:spPr>
        <p:txBody>
          <a:bodyPr wrap="square" lIns="0" tIns="0" rIns="0" bIns="0" rtlCol="0" anchor="ctr"/>
          <a:lstStyle/>
          <a:p>
            <a:pPr indent="0" marL="0">
              <a:buNone/>
            </a:pPr>
            <a:r>
              <a:rPr lang="en-US" sz="1300" b="1" dirty="0">
                <a:solidFill>
                  <a:srgbClr val="C9552E"/>
                </a:solidFill>
                <a:latin typeface="Courier New" pitchFamily="34" charset="0"/>
                <a:ea typeface="Courier New" pitchFamily="34" charset="-122"/>
                <a:cs typeface="Courier New" pitchFamily="34" charset="-120"/>
              </a:rPr>
              <a:t>k</a:t>
            </a:r>
            <a:endParaRPr lang="en-US" sz="1300" dirty="0"/>
          </a:p>
        </p:txBody>
      </p:sp>
      <p:sp>
        <p:nvSpPr>
          <p:cNvPr id="16" name="Text 14"/>
          <p:cNvSpPr/>
          <p:nvPr/>
        </p:nvSpPr>
        <p:spPr>
          <a:xfrm>
            <a:off x="548640" y="5093208"/>
            <a:ext cx="2194560" cy="365760"/>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Gradient of</a:t>
            </a:r>
            <a:endParaRPr lang="en-US" sz="1300" dirty="0"/>
          </a:p>
        </p:txBody>
      </p:sp>
      <p:sp>
        <p:nvSpPr>
          <p:cNvPr id="17" name="Text 15"/>
          <p:cNvSpPr/>
          <p:nvPr/>
        </p:nvSpPr>
        <p:spPr>
          <a:xfrm>
            <a:off x="2834640" y="5093208"/>
            <a:ext cx="1828800" cy="365760"/>
          </a:xfrm>
          <a:prstGeom prst="rect">
            <a:avLst/>
          </a:prstGeom>
          <a:noFill/>
          <a:ln/>
        </p:spPr>
        <p:txBody>
          <a:bodyPr wrap="square" lIns="0" tIns="0" rIns="0" bIns="0" rtlCol="0" anchor="ctr"/>
          <a:lstStyle/>
          <a:p>
            <a:pPr indent="0" marL="0">
              <a:buNone/>
            </a:pPr>
            <a:r>
              <a:rPr lang="en-US" sz="1300" b="1" dirty="0">
                <a:solidFill>
                  <a:srgbClr val="2E8B9E"/>
                </a:solidFill>
                <a:latin typeface="Courier New" pitchFamily="34" charset="0"/>
                <a:ea typeface="Courier New" pitchFamily="34" charset="-122"/>
                <a:cs typeface="Courier New" pitchFamily="34" charset="-120"/>
              </a:rPr>
              <a:t>velocity</a:t>
            </a:r>
            <a:endParaRPr lang="en-US" sz="1300" dirty="0"/>
          </a:p>
        </p:txBody>
      </p:sp>
      <p:sp>
        <p:nvSpPr>
          <p:cNvPr id="18" name="Text 16"/>
          <p:cNvSpPr/>
          <p:nvPr/>
        </p:nvSpPr>
        <p:spPr>
          <a:xfrm>
            <a:off x="4663440" y="5093208"/>
            <a:ext cx="2011680" cy="365760"/>
          </a:xfrm>
          <a:prstGeom prst="rect">
            <a:avLst/>
          </a:prstGeom>
          <a:noFill/>
          <a:ln/>
        </p:spPr>
        <p:txBody>
          <a:bodyPr wrap="square" lIns="0" tIns="0" rIns="0" bIns="0" rtlCol="0" anchor="ctr"/>
          <a:lstStyle/>
          <a:p>
            <a:pPr indent="0" marL="0">
              <a:buNone/>
            </a:pPr>
            <a:r>
              <a:rPr lang="en-US" sz="1300" b="1" dirty="0">
                <a:solidFill>
                  <a:srgbClr val="C9552E"/>
                </a:solidFill>
                <a:latin typeface="Courier New" pitchFamily="34" charset="0"/>
                <a:ea typeface="Courier New" pitchFamily="34" charset="-122"/>
                <a:cs typeface="Courier New" pitchFamily="34" charset="-120"/>
              </a:rPr>
              <a:t>temperature</a:t>
            </a:r>
            <a:endParaRPr lang="en-US" sz="1300" dirty="0"/>
          </a:p>
        </p:txBody>
      </p:sp>
      <p:sp>
        <p:nvSpPr>
          <p:cNvPr id="19" name="Text 17"/>
          <p:cNvSpPr/>
          <p:nvPr/>
        </p:nvSpPr>
        <p:spPr>
          <a:xfrm>
            <a:off x="548640" y="5513832"/>
            <a:ext cx="2194560" cy="365760"/>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Diffusivity</a:t>
            </a:r>
            <a:endParaRPr lang="en-US" sz="1300" dirty="0"/>
          </a:p>
        </p:txBody>
      </p:sp>
      <p:sp>
        <p:nvSpPr>
          <p:cNvPr id="20" name="Text 18"/>
          <p:cNvSpPr/>
          <p:nvPr/>
        </p:nvSpPr>
        <p:spPr>
          <a:xfrm>
            <a:off x="2834640" y="5513832"/>
            <a:ext cx="1828800" cy="365760"/>
          </a:xfrm>
          <a:prstGeom prst="rect">
            <a:avLst/>
          </a:prstGeom>
          <a:noFill/>
          <a:ln/>
        </p:spPr>
        <p:txBody>
          <a:bodyPr wrap="square" lIns="0" tIns="0" rIns="0" bIns="0" rtlCol="0" anchor="ctr"/>
          <a:lstStyle/>
          <a:p>
            <a:pPr indent="0" marL="0">
              <a:buNone/>
            </a:pPr>
            <a:r>
              <a:rPr lang="en-US" sz="1300" b="1" dirty="0">
                <a:solidFill>
                  <a:srgbClr val="2E8B9E"/>
                </a:solidFill>
                <a:latin typeface="Courier New" pitchFamily="34" charset="0"/>
                <a:ea typeface="Courier New" pitchFamily="34" charset="-122"/>
                <a:cs typeface="Courier New" pitchFamily="34" charset="-120"/>
              </a:rPr>
              <a:t>ν = μ/ρ</a:t>
            </a:r>
            <a:endParaRPr lang="en-US" sz="1300" dirty="0"/>
          </a:p>
        </p:txBody>
      </p:sp>
      <p:sp>
        <p:nvSpPr>
          <p:cNvPr id="21" name="Text 19"/>
          <p:cNvSpPr/>
          <p:nvPr/>
        </p:nvSpPr>
        <p:spPr>
          <a:xfrm>
            <a:off x="4663440" y="5513832"/>
            <a:ext cx="2011680" cy="365760"/>
          </a:xfrm>
          <a:prstGeom prst="rect">
            <a:avLst/>
          </a:prstGeom>
          <a:noFill/>
          <a:ln/>
        </p:spPr>
        <p:txBody>
          <a:bodyPr wrap="square" lIns="0" tIns="0" rIns="0" bIns="0" rtlCol="0" anchor="ctr"/>
          <a:lstStyle/>
          <a:p>
            <a:pPr indent="0" marL="0">
              <a:buNone/>
            </a:pPr>
            <a:r>
              <a:rPr lang="en-US" sz="1300" b="1" dirty="0">
                <a:solidFill>
                  <a:srgbClr val="C9552E"/>
                </a:solidFill>
                <a:latin typeface="Courier New" pitchFamily="34" charset="0"/>
                <a:ea typeface="Courier New" pitchFamily="34" charset="-122"/>
                <a:cs typeface="Courier New" pitchFamily="34" charset="-120"/>
              </a:rPr>
              <a:t>α = k/ρĈ</a:t>
            </a:r>
            <a:pPr indent="0" marL="0">
              <a:buNone/>
            </a:pPr>
            <a:r>
              <a:rPr lang="en-US" sz="1300" b="1" baseline="-40000" dirty="0">
                <a:solidFill>
                  <a:srgbClr val="C9552E"/>
                </a:solidFill>
                <a:latin typeface="Courier New" pitchFamily="34" charset="0"/>
                <a:ea typeface="Courier New" pitchFamily="34" charset="-122"/>
                <a:cs typeface="Courier New" pitchFamily="34" charset="-120"/>
              </a:rPr>
              <a:t>p</a:t>
            </a:r>
            <a:endParaRPr lang="en-US" sz="1300" dirty="0"/>
          </a:p>
        </p:txBody>
      </p:sp>
      <p:sp>
        <p:nvSpPr>
          <p:cNvPr id="22" name="Shape 20"/>
          <p:cNvSpPr/>
          <p:nvPr/>
        </p:nvSpPr>
        <p:spPr>
          <a:xfrm>
            <a:off x="6766560" y="3886200"/>
            <a:ext cx="4846320" cy="2011680"/>
          </a:xfrm>
          <a:prstGeom prst="rect">
            <a:avLst/>
          </a:prstGeom>
          <a:solidFill>
            <a:srgbClr val="F4F6F8"/>
          </a:solidFill>
          <a:ln/>
        </p:spPr>
      </p:sp>
      <p:sp>
        <p:nvSpPr>
          <p:cNvPr id="23" name="Text 21"/>
          <p:cNvSpPr/>
          <p:nvPr/>
        </p:nvSpPr>
        <p:spPr>
          <a:xfrm>
            <a:off x="7086600" y="4114800"/>
            <a:ext cx="4206240" cy="320040"/>
          </a:xfrm>
          <a:prstGeom prst="rect">
            <a:avLst/>
          </a:prstGeom>
          <a:noFill/>
          <a:ln/>
        </p:spPr>
        <p:txBody>
          <a:bodyPr wrap="square" lIns="0" tIns="0" rIns="0" bIns="0" rtlCol="0" anchor="ctr"/>
          <a:lstStyle/>
          <a:p>
            <a:pPr indent="0" marL="0">
              <a:buNone/>
            </a:pPr>
            <a:r>
              <a:rPr lang="en-US" sz="1200" b="1" spc="200" kern="0" dirty="0">
                <a:solidFill>
                  <a:srgbClr val="6B7C8C"/>
                </a:solidFill>
                <a:latin typeface="Calibri" pitchFamily="34" charset="0"/>
                <a:ea typeface="Calibri" pitchFamily="34" charset="-122"/>
                <a:cs typeface="Calibri" pitchFamily="34" charset="-120"/>
              </a:rPr>
              <a:t>Thermal diffusivity</a:t>
            </a:r>
            <a:endParaRPr lang="en-US" sz="1200" dirty="0"/>
          </a:p>
        </p:txBody>
      </p:sp>
      <p:sp>
        <p:nvSpPr>
          <p:cNvPr id="24" name="Text 22"/>
          <p:cNvSpPr/>
          <p:nvPr/>
        </p:nvSpPr>
        <p:spPr>
          <a:xfrm>
            <a:off x="7086600" y="4480560"/>
            <a:ext cx="4206240" cy="502920"/>
          </a:xfrm>
          <a:prstGeom prst="rect">
            <a:avLst/>
          </a:prstGeom>
          <a:noFill/>
          <a:ln/>
        </p:spPr>
        <p:txBody>
          <a:bodyPr wrap="square" lIns="0" tIns="0" rIns="0" bIns="0" rtlCol="0" anchor="ctr"/>
          <a:lstStyle/>
          <a:p>
            <a:pPr indent="0" marL="0">
              <a:buNone/>
            </a:pPr>
            <a:r>
              <a:rPr lang="en-US" sz="2400" b="1" dirty="0">
                <a:solidFill>
                  <a:srgbClr val="C9552E"/>
                </a:solidFill>
                <a:latin typeface="Courier New" pitchFamily="34" charset="0"/>
                <a:ea typeface="Courier New" pitchFamily="34" charset="-122"/>
                <a:cs typeface="Courier New" pitchFamily="34" charset="-120"/>
              </a:rPr>
              <a:t>α  =  k / ρĈ</a:t>
            </a:r>
            <a:pPr indent="0" marL="0">
              <a:buNone/>
            </a:pPr>
            <a:r>
              <a:rPr lang="en-US" sz="2400" b="1" baseline="-40000" dirty="0">
                <a:solidFill>
                  <a:srgbClr val="C9552E"/>
                </a:solidFill>
                <a:latin typeface="Courier New" pitchFamily="34" charset="0"/>
                <a:ea typeface="Courier New" pitchFamily="34" charset="-122"/>
                <a:cs typeface="Courier New" pitchFamily="34" charset="-120"/>
              </a:rPr>
              <a:t>p</a:t>
            </a:r>
            <a:endParaRPr lang="en-US" sz="2400" dirty="0"/>
          </a:p>
        </p:txBody>
      </p:sp>
      <p:sp>
        <p:nvSpPr>
          <p:cNvPr id="25" name="Text 23"/>
          <p:cNvSpPr/>
          <p:nvPr/>
        </p:nvSpPr>
        <p:spPr>
          <a:xfrm>
            <a:off x="7086600" y="5074920"/>
            <a:ext cx="4206240" cy="685800"/>
          </a:xfrm>
          <a:prstGeom prst="rect">
            <a:avLst/>
          </a:prstGeom>
          <a:noFill/>
          <a:ln/>
        </p:spPr>
        <p:txBody>
          <a:bodyPr wrap="square" lIns="0" tIns="0" rIns="0" bIns="0" rtlCol="0" anchor="ctr"/>
          <a:lstStyle/>
          <a:p>
            <a:pPr indent="0" marL="0">
              <a:lnSpc>
                <a:spcPts val="1800"/>
              </a:lnSpc>
              <a:buNone/>
            </a:pPr>
            <a:r>
              <a:rPr lang="en-US" sz="1300" dirty="0">
                <a:solidFill>
                  <a:srgbClr val="2B3947"/>
                </a:solidFill>
                <a:latin typeface="Calibri" pitchFamily="34" charset="0"/>
                <a:ea typeface="Calibri" pitchFamily="34" charset="-122"/>
                <a:cs typeface="Calibri" pitchFamily="34" charset="-120"/>
              </a:rPr>
              <a:t>Units: m²/s again. Same units as ν, and that is not a coincidence.</a:t>
            </a:r>
            <a:endParaRPr lang="en-US" sz="1300" dirty="0"/>
          </a:p>
        </p:txBody>
      </p:sp>
      <p:sp>
        <p:nvSpPr>
          <p:cNvPr id="26" name="Text 24"/>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MASS TRANSPORT</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Fick's law of molecular diffusion</a:t>
            </a:r>
            <a:endParaRPr lang="en-US" sz="3200" dirty="0"/>
          </a:p>
        </p:txBody>
      </p:sp>
      <p:sp>
        <p:nvSpPr>
          <p:cNvPr id="4" name="Shape 2"/>
          <p:cNvSpPr/>
          <p:nvPr/>
        </p:nvSpPr>
        <p:spPr>
          <a:xfrm>
            <a:off x="548640" y="1554480"/>
            <a:ext cx="5852160" cy="1828800"/>
          </a:xfrm>
          <a:prstGeom prst="rect">
            <a:avLst/>
          </a:prstGeom>
          <a:solidFill>
            <a:srgbClr val="F4F6F8"/>
          </a:solidFill>
          <a:ln/>
        </p:spPr>
      </p:sp>
      <p:sp>
        <p:nvSpPr>
          <p:cNvPr id="5" name="Text 3"/>
          <p:cNvSpPr/>
          <p:nvPr/>
        </p:nvSpPr>
        <p:spPr>
          <a:xfrm>
            <a:off x="868680" y="1920240"/>
            <a:ext cx="5303520" cy="640080"/>
          </a:xfrm>
          <a:prstGeom prst="rect">
            <a:avLst/>
          </a:prstGeom>
          <a:noFill/>
          <a:ln/>
        </p:spPr>
        <p:txBody>
          <a:bodyPr wrap="square" lIns="0" tIns="0" rIns="0" bIns="0" rtlCol="0" anchor="ctr"/>
          <a:lstStyle/>
          <a:p>
            <a:pPr indent="0" marL="0">
              <a:buNone/>
            </a:pPr>
            <a:r>
              <a:rPr lang="en-US" sz="2300" b="1" dirty="0">
                <a:solidFill>
                  <a:srgbClr val="6B54A8"/>
                </a:solidFill>
                <a:latin typeface="Courier New" pitchFamily="34" charset="0"/>
                <a:ea typeface="Courier New" pitchFamily="34" charset="-122"/>
                <a:cs typeface="Courier New" pitchFamily="34" charset="-120"/>
              </a:rPr>
              <a:t>j</a:t>
            </a:r>
            <a:pPr indent="0" marL="0">
              <a:buNone/>
            </a:pPr>
            <a:r>
              <a:rPr lang="en-US" sz="2300" b="1" baseline="-40000" dirty="0">
                <a:solidFill>
                  <a:srgbClr val="6B54A8"/>
                </a:solidFill>
                <a:latin typeface="Courier New" pitchFamily="34" charset="0"/>
                <a:ea typeface="Courier New" pitchFamily="34" charset="-122"/>
                <a:cs typeface="Courier New" pitchFamily="34" charset="-120"/>
              </a:rPr>
              <a:t>Ay</a:t>
            </a:r>
            <a:pPr indent="0" marL="0">
              <a:buNone/>
            </a:pPr>
            <a:r>
              <a:rPr lang="en-US" sz="2300" b="1" dirty="0">
                <a:solidFill>
                  <a:srgbClr val="6B54A8"/>
                </a:solidFill>
                <a:latin typeface="Courier New" pitchFamily="34" charset="0"/>
                <a:ea typeface="Courier New" pitchFamily="34" charset="-122"/>
                <a:cs typeface="Courier New" pitchFamily="34" charset="-120"/>
              </a:rPr>
              <a:t>  =  − ρD</a:t>
            </a:r>
            <a:pPr indent="0" marL="0">
              <a:buNone/>
            </a:pPr>
            <a:r>
              <a:rPr lang="en-US" sz="2300" b="1" baseline="-40000" dirty="0">
                <a:solidFill>
                  <a:srgbClr val="6B54A8"/>
                </a:solidFill>
                <a:latin typeface="Courier New" pitchFamily="34" charset="0"/>
                <a:ea typeface="Courier New" pitchFamily="34" charset="-122"/>
                <a:cs typeface="Courier New" pitchFamily="34" charset="-120"/>
              </a:rPr>
              <a:t>AB</a:t>
            </a:r>
            <a:pPr indent="0" marL="0">
              <a:buNone/>
            </a:pPr>
            <a:r>
              <a:rPr lang="en-US" sz="2300" b="1" dirty="0">
                <a:solidFill>
                  <a:srgbClr val="6B54A8"/>
                </a:solidFill>
                <a:latin typeface="Courier New" pitchFamily="34" charset="0"/>
                <a:ea typeface="Courier New" pitchFamily="34" charset="-122"/>
                <a:cs typeface="Courier New" pitchFamily="34" charset="-120"/>
              </a:rPr>
              <a:t> · dω</a:t>
            </a:r>
            <a:pPr indent="0" marL="0">
              <a:buNone/>
            </a:pPr>
            <a:r>
              <a:rPr lang="en-US" sz="2300" b="1" baseline="-40000" dirty="0">
                <a:solidFill>
                  <a:srgbClr val="6B54A8"/>
                </a:solidFill>
                <a:latin typeface="Courier New" pitchFamily="34" charset="0"/>
                <a:ea typeface="Courier New" pitchFamily="34" charset="-122"/>
                <a:cs typeface="Courier New" pitchFamily="34" charset="-120"/>
              </a:rPr>
              <a:t>A</a:t>
            </a:r>
            <a:pPr indent="0" marL="0">
              <a:buNone/>
            </a:pPr>
            <a:r>
              <a:rPr lang="en-US" sz="2300" b="1" dirty="0">
                <a:solidFill>
                  <a:srgbClr val="6B54A8"/>
                </a:solidFill>
                <a:latin typeface="Courier New" pitchFamily="34" charset="0"/>
                <a:ea typeface="Courier New" pitchFamily="34" charset="-122"/>
                <a:cs typeface="Courier New" pitchFamily="34" charset="-120"/>
              </a:rPr>
              <a:t>/dy</a:t>
            </a:r>
            <a:endParaRPr lang="en-US" sz="2300" dirty="0"/>
          </a:p>
        </p:txBody>
      </p:sp>
      <p:sp>
        <p:nvSpPr>
          <p:cNvPr id="6" name="Text 4"/>
          <p:cNvSpPr/>
          <p:nvPr/>
        </p:nvSpPr>
        <p:spPr>
          <a:xfrm>
            <a:off x="868680" y="2651760"/>
            <a:ext cx="1828800" cy="274320"/>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(17.1-4)</a:t>
            </a:r>
            <a:endParaRPr lang="en-US" sz="1200" dirty="0"/>
          </a:p>
        </p:txBody>
      </p:sp>
      <p:sp>
        <p:nvSpPr>
          <p:cNvPr id="7" name="Text 5"/>
          <p:cNvSpPr/>
          <p:nvPr/>
        </p:nvSpPr>
        <p:spPr>
          <a:xfrm>
            <a:off x="6766560" y="1737360"/>
            <a:ext cx="484632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The identical experiment, a third time</a:t>
            </a:r>
            <a:endParaRPr lang="en-US" sz="1900" dirty="0"/>
          </a:p>
        </p:txBody>
      </p:sp>
      <p:sp>
        <p:nvSpPr>
          <p:cNvPr id="8" name="Text 6"/>
          <p:cNvSpPr/>
          <p:nvPr/>
        </p:nvSpPr>
        <p:spPr>
          <a:xfrm>
            <a:off x="6766560" y="2194560"/>
            <a:ext cx="4846320" cy="1463040"/>
          </a:xfrm>
          <a:prstGeom prst="rect">
            <a:avLst/>
          </a:prstGeom>
          <a:noFill/>
          <a:ln/>
        </p:spPr>
        <p:txBody>
          <a:bodyPr wrap="square" lIns="0" tIns="0" rIns="0" bIns="0" rtlCol="0" anchor="ctr"/>
          <a:lstStyle/>
          <a:p>
            <a:pPr indent="0" marL="0">
              <a:lnSpc>
                <a:spcPts val="2100"/>
              </a:lnSpc>
              <a:buNone/>
            </a:pPr>
            <a:r>
              <a:rPr lang="en-US" sz="1450" dirty="0">
                <a:solidFill>
                  <a:srgbClr val="2B3947"/>
                </a:solidFill>
                <a:latin typeface="Calibri" pitchFamily="34" charset="0"/>
                <a:ea typeface="Calibri" pitchFamily="34" charset="-122"/>
                <a:cs typeface="Calibri" pitchFamily="34" charset="-120"/>
              </a:rPr>
              <a:t>A slab of fused silica, thickness Y, with helium held at mass fraction ω</a:t>
            </a:r>
            <a:pPr indent="0" marL="0">
              <a:lnSpc>
                <a:spcPts val="2100"/>
              </a:lnSpc>
              <a:buNone/>
            </a:pPr>
            <a:r>
              <a:rPr lang="en-US" sz="1450" baseline="-40000" dirty="0">
                <a:solidFill>
                  <a:srgbClr val="2B3947"/>
                </a:solidFill>
                <a:latin typeface="Calibri" pitchFamily="34" charset="0"/>
                <a:ea typeface="Calibri" pitchFamily="34" charset="-122"/>
                <a:cs typeface="Calibri" pitchFamily="34" charset="-120"/>
              </a:rPr>
              <a:t>A0</a:t>
            </a:r>
            <a:pPr indent="0" marL="0">
              <a:lnSpc>
                <a:spcPts val="2100"/>
              </a:lnSpc>
              <a:buNone/>
            </a:pPr>
            <a:r>
              <a:rPr lang="en-US" sz="1450" dirty="0">
                <a:solidFill>
                  <a:srgbClr val="2B3947"/>
                </a:solidFill>
                <a:latin typeface="Calibri" pitchFamily="34" charset="0"/>
                <a:ea typeface="Calibri" pitchFamily="34" charset="-122"/>
                <a:cs typeface="Calibri" pitchFamily="34" charset="-120"/>
              </a:rPr>
              <a:t> on one face. Helium diffuses through; a concentration profile builds; at steady state the flux is constant.</a:t>
            </a:r>
            <a:endParaRPr lang="en-US" sz="1450" dirty="0"/>
          </a:p>
        </p:txBody>
      </p:sp>
      <p:sp>
        <p:nvSpPr>
          <p:cNvPr id="9" name="Text 7"/>
          <p:cNvSpPr/>
          <p:nvPr/>
        </p:nvSpPr>
        <p:spPr>
          <a:xfrm>
            <a:off x="548640" y="3749040"/>
            <a:ext cx="5486400" cy="365760"/>
          </a:xfrm>
          <a:prstGeom prst="rect">
            <a:avLst/>
          </a:prstGeom>
          <a:noFill/>
          <a:ln/>
        </p:spPr>
        <p:txBody>
          <a:bodyPr wrap="square" lIns="0" tIns="0" rIns="0" bIns="0" rtlCol="0" anchor="ctr"/>
          <a:lstStyle/>
          <a:p>
            <a:pPr indent="0" marL="0">
              <a:buNone/>
            </a:pPr>
            <a:r>
              <a:rPr lang="en-US" sz="1900" b="1" dirty="0">
                <a:solidFill>
                  <a:srgbClr val="13202C"/>
                </a:solidFill>
                <a:latin typeface="Cambria" pitchFamily="34" charset="0"/>
                <a:ea typeface="Cambria" pitchFamily="34" charset="-122"/>
                <a:cs typeface="Cambria" pitchFamily="34" charset="-120"/>
              </a:rPr>
              <a:t>Notation</a:t>
            </a:r>
            <a:endParaRPr lang="en-US" sz="1900" dirty="0"/>
          </a:p>
        </p:txBody>
      </p:sp>
      <p:sp>
        <p:nvSpPr>
          <p:cNvPr id="10" name="Text 8"/>
          <p:cNvSpPr/>
          <p:nvPr/>
        </p:nvSpPr>
        <p:spPr>
          <a:xfrm>
            <a:off x="548640" y="4224528"/>
            <a:ext cx="1097280" cy="365760"/>
          </a:xfrm>
          <a:prstGeom prst="rect">
            <a:avLst/>
          </a:prstGeom>
          <a:noFill/>
          <a:ln/>
        </p:spPr>
        <p:txBody>
          <a:bodyPr wrap="square" lIns="0" tIns="0" rIns="0" bIns="0" rtlCol="0" anchor="ctr"/>
          <a:lstStyle/>
          <a:p>
            <a:pPr indent="0" marL="0">
              <a:buNone/>
            </a:pPr>
            <a:r>
              <a:rPr lang="en-US" sz="1300" b="1" dirty="0">
                <a:solidFill>
                  <a:srgbClr val="6B54A8"/>
                </a:solidFill>
                <a:latin typeface="Courier New" pitchFamily="34" charset="0"/>
                <a:ea typeface="Courier New" pitchFamily="34" charset="-122"/>
                <a:cs typeface="Courier New" pitchFamily="34" charset="-120"/>
              </a:rPr>
              <a:t>j</a:t>
            </a:r>
            <a:pPr indent="0" marL="0">
              <a:buNone/>
            </a:pPr>
            <a:r>
              <a:rPr lang="en-US" sz="1300" b="1" baseline="-40000" dirty="0">
                <a:solidFill>
                  <a:srgbClr val="6B54A8"/>
                </a:solidFill>
                <a:latin typeface="Courier New" pitchFamily="34" charset="0"/>
                <a:ea typeface="Courier New" pitchFamily="34" charset="-122"/>
                <a:cs typeface="Courier New" pitchFamily="34" charset="-120"/>
              </a:rPr>
              <a:t>Ay</a:t>
            </a:r>
            <a:endParaRPr lang="en-US" sz="1300" dirty="0"/>
          </a:p>
        </p:txBody>
      </p:sp>
      <p:sp>
        <p:nvSpPr>
          <p:cNvPr id="11" name="Text 9"/>
          <p:cNvSpPr/>
          <p:nvPr/>
        </p:nvSpPr>
        <p:spPr>
          <a:xfrm>
            <a:off x="1691640" y="4224528"/>
            <a:ext cx="4754880" cy="365760"/>
          </a:xfrm>
          <a:prstGeom prst="rect">
            <a:avLst/>
          </a:prstGeom>
          <a:noFill/>
          <a:ln/>
        </p:spPr>
        <p:txBody>
          <a:bodyPr wrap="square" lIns="0" tIns="0" rIns="0" bIns="0" rtlCol="0" anchor="ctr"/>
          <a:lstStyle/>
          <a:p>
            <a:pPr indent="0" marL="0">
              <a:buNone/>
            </a:pPr>
            <a:r>
              <a:rPr lang="en-US" sz="1300" dirty="0">
                <a:solidFill>
                  <a:srgbClr val="2B3947"/>
                </a:solidFill>
                <a:latin typeface="Calibri" pitchFamily="34" charset="0"/>
                <a:ea typeface="Calibri" pitchFamily="34" charset="-122"/>
                <a:cs typeface="Calibri" pitchFamily="34" charset="-120"/>
              </a:rPr>
              <a:t>molecular mass flux of species A</a:t>
            </a:r>
            <a:endParaRPr lang="en-US" sz="1300" dirty="0"/>
          </a:p>
        </p:txBody>
      </p:sp>
      <p:sp>
        <p:nvSpPr>
          <p:cNvPr id="12" name="Text 10"/>
          <p:cNvSpPr/>
          <p:nvPr/>
        </p:nvSpPr>
        <p:spPr>
          <a:xfrm>
            <a:off x="548640" y="4626864"/>
            <a:ext cx="1097280" cy="365760"/>
          </a:xfrm>
          <a:prstGeom prst="rect">
            <a:avLst/>
          </a:prstGeom>
          <a:noFill/>
          <a:ln/>
        </p:spPr>
        <p:txBody>
          <a:bodyPr wrap="square" lIns="0" tIns="0" rIns="0" bIns="0" rtlCol="0" anchor="ctr"/>
          <a:lstStyle/>
          <a:p>
            <a:pPr indent="0" marL="0">
              <a:buNone/>
            </a:pPr>
            <a:r>
              <a:rPr lang="en-US" sz="1300" b="1" dirty="0">
                <a:solidFill>
                  <a:srgbClr val="6B54A8"/>
                </a:solidFill>
                <a:latin typeface="Courier New" pitchFamily="34" charset="0"/>
                <a:ea typeface="Courier New" pitchFamily="34" charset="-122"/>
                <a:cs typeface="Courier New" pitchFamily="34" charset="-120"/>
              </a:rPr>
              <a:t>ρ</a:t>
            </a:r>
            <a:endParaRPr lang="en-US" sz="1300" dirty="0"/>
          </a:p>
        </p:txBody>
      </p:sp>
      <p:sp>
        <p:nvSpPr>
          <p:cNvPr id="13" name="Text 11"/>
          <p:cNvSpPr/>
          <p:nvPr/>
        </p:nvSpPr>
        <p:spPr>
          <a:xfrm>
            <a:off x="1691640" y="4626864"/>
            <a:ext cx="4754880" cy="365760"/>
          </a:xfrm>
          <a:prstGeom prst="rect">
            <a:avLst/>
          </a:prstGeom>
          <a:noFill/>
          <a:ln/>
        </p:spPr>
        <p:txBody>
          <a:bodyPr wrap="square" lIns="0" tIns="0" rIns="0" bIns="0" rtlCol="0" anchor="ctr"/>
          <a:lstStyle/>
          <a:p>
            <a:pPr indent="0" marL="0">
              <a:buNone/>
            </a:pPr>
            <a:r>
              <a:rPr lang="en-US" sz="1300" dirty="0">
                <a:solidFill>
                  <a:srgbClr val="2B3947"/>
                </a:solidFill>
                <a:latin typeface="Calibri" pitchFamily="34" charset="0"/>
                <a:ea typeface="Calibri" pitchFamily="34" charset="-122"/>
                <a:cs typeface="Calibri" pitchFamily="34" charset="-120"/>
              </a:rPr>
              <a:t>density of the two-component system</a:t>
            </a:r>
            <a:endParaRPr lang="en-US" sz="1300" dirty="0"/>
          </a:p>
        </p:txBody>
      </p:sp>
      <p:sp>
        <p:nvSpPr>
          <p:cNvPr id="14" name="Text 12"/>
          <p:cNvSpPr/>
          <p:nvPr/>
        </p:nvSpPr>
        <p:spPr>
          <a:xfrm>
            <a:off x="548640" y="5029200"/>
            <a:ext cx="1097280" cy="365760"/>
          </a:xfrm>
          <a:prstGeom prst="rect">
            <a:avLst/>
          </a:prstGeom>
          <a:noFill/>
          <a:ln/>
        </p:spPr>
        <p:txBody>
          <a:bodyPr wrap="square" lIns="0" tIns="0" rIns="0" bIns="0" rtlCol="0" anchor="ctr"/>
          <a:lstStyle/>
          <a:p>
            <a:pPr indent="0" marL="0">
              <a:buNone/>
            </a:pPr>
            <a:r>
              <a:rPr lang="en-US" sz="1300" b="1" dirty="0">
                <a:solidFill>
                  <a:srgbClr val="6B54A8"/>
                </a:solidFill>
                <a:latin typeface="Courier New" pitchFamily="34" charset="0"/>
                <a:ea typeface="Courier New" pitchFamily="34" charset="-122"/>
                <a:cs typeface="Courier New" pitchFamily="34" charset="-120"/>
              </a:rPr>
              <a:t>D</a:t>
            </a:r>
            <a:pPr indent="0" marL="0">
              <a:buNone/>
            </a:pPr>
            <a:r>
              <a:rPr lang="en-US" sz="1300" b="1" baseline="-40000" dirty="0">
                <a:solidFill>
                  <a:srgbClr val="6B54A8"/>
                </a:solidFill>
                <a:latin typeface="Courier New" pitchFamily="34" charset="0"/>
                <a:ea typeface="Courier New" pitchFamily="34" charset="-122"/>
                <a:cs typeface="Courier New" pitchFamily="34" charset="-120"/>
              </a:rPr>
              <a:t>AB</a:t>
            </a:r>
            <a:endParaRPr lang="en-US" sz="1300" dirty="0"/>
          </a:p>
        </p:txBody>
      </p:sp>
      <p:sp>
        <p:nvSpPr>
          <p:cNvPr id="15" name="Text 13"/>
          <p:cNvSpPr/>
          <p:nvPr/>
        </p:nvSpPr>
        <p:spPr>
          <a:xfrm>
            <a:off x="1691640" y="5029200"/>
            <a:ext cx="4754880" cy="365760"/>
          </a:xfrm>
          <a:prstGeom prst="rect">
            <a:avLst/>
          </a:prstGeom>
          <a:noFill/>
          <a:ln/>
        </p:spPr>
        <p:txBody>
          <a:bodyPr wrap="square" lIns="0" tIns="0" rIns="0" bIns="0" rtlCol="0" anchor="ctr"/>
          <a:lstStyle/>
          <a:p>
            <a:pPr indent="0" marL="0">
              <a:buNone/>
            </a:pPr>
            <a:r>
              <a:rPr lang="en-US" sz="1300" dirty="0">
                <a:solidFill>
                  <a:srgbClr val="2B3947"/>
                </a:solidFill>
                <a:latin typeface="Calibri" pitchFamily="34" charset="0"/>
                <a:ea typeface="Calibri" pitchFamily="34" charset="-122"/>
                <a:cs typeface="Calibri" pitchFamily="34" charset="-120"/>
              </a:rPr>
              <a:t>mass diffusivity of A through B</a:t>
            </a:r>
            <a:endParaRPr lang="en-US" sz="1300" dirty="0"/>
          </a:p>
        </p:txBody>
      </p:sp>
      <p:sp>
        <p:nvSpPr>
          <p:cNvPr id="16" name="Text 14"/>
          <p:cNvSpPr/>
          <p:nvPr/>
        </p:nvSpPr>
        <p:spPr>
          <a:xfrm>
            <a:off x="548640" y="5431536"/>
            <a:ext cx="1097280" cy="365760"/>
          </a:xfrm>
          <a:prstGeom prst="rect">
            <a:avLst/>
          </a:prstGeom>
          <a:noFill/>
          <a:ln/>
        </p:spPr>
        <p:txBody>
          <a:bodyPr wrap="square" lIns="0" tIns="0" rIns="0" bIns="0" rtlCol="0" anchor="ctr"/>
          <a:lstStyle/>
          <a:p>
            <a:pPr indent="0" marL="0">
              <a:buNone/>
            </a:pPr>
            <a:r>
              <a:rPr lang="en-US" sz="1300" b="1" dirty="0">
                <a:solidFill>
                  <a:srgbClr val="6B54A8"/>
                </a:solidFill>
                <a:latin typeface="Courier New" pitchFamily="34" charset="0"/>
                <a:ea typeface="Courier New" pitchFamily="34" charset="-122"/>
                <a:cs typeface="Courier New" pitchFamily="34" charset="-120"/>
              </a:rPr>
              <a:t>ω</a:t>
            </a:r>
            <a:pPr indent="0" marL="0">
              <a:buNone/>
            </a:pPr>
            <a:r>
              <a:rPr lang="en-US" sz="1300" b="1" baseline="-40000" dirty="0">
                <a:solidFill>
                  <a:srgbClr val="6B54A8"/>
                </a:solidFill>
                <a:latin typeface="Courier New" pitchFamily="34" charset="0"/>
                <a:ea typeface="Courier New" pitchFamily="34" charset="-122"/>
                <a:cs typeface="Courier New" pitchFamily="34" charset="-120"/>
              </a:rPr>
              <a:t>A0</a:t>
            </a:r>
            <a:endParaRPr lang="en-US" sz="1300" dirty="0"/>
          </a:p>
        </p:txBody>
      </p:sp>
      <p:sp>
        <p:nvSpPr>
          <p:cNvPr id="17" name="Text 15"/>
          <p:cNvSpPr/>
          <p:nvPr/>
        </p:nvSpPr>
        <p:spPr>
          <a:xfrm>
            <a:off x="1691640" y="5431536"/>
            <a:ext cx="4754880" cy="365760"/>
          </a:xfrm>
          <a:prstGeom prst="rect">
            <a:avLst/>
          </a:prstGeom>
          <a:noFill/>
          <a:ln/>
        </p:spPr>
        <p:txBody>
          <a:bodyPr wrap="square" lIns="0" tIns="0" rIns="0" bIns="0" rtlCol="0" anchor="ctr"/>
          <a:lstStyle/>
          <a:p>
            <a:pPr indent="0" marL="0">
              <a:buNone/>
            </a:pPr>
            <a:r>
              <a:rPr lang="en-US" sz="1300" dirty="0">
                <a:solidFill>
                  <a:srgbClr val="2B3947"/>
                </a:solidFill>
                <a:latin typeface="Calibri" pitchFamily="34" charset="0"/>
                <a:ea typeface="Calibri" pitchFamily="34" charset="-122"/>
                <a:cs typeface="Calibri" pitchFamily="34" charset="-120"/>
              </a:rPr>
              <a:t>solubility, as a mass fraction</a:t>
            </a:r>
            <a:endParaRPr lang="en-US" sz="1300" dirty="0"/>
          </a:p>
        </p:txBody>
      </p:sp>
      <p:sp>
        <p:nvSpPr>
          <p:cNvPr id="18" name="Shape 16"/>
          <p:cNvSpPr/>
          <p:nvPr/>
        </p:nvSpPr>
        <p:spPr>
          <a:xfrm>
            <a:off x="6766560" y="3886200"/>
            <a:ext cx="4846320" cy="2011680"/>
          </a:xfrm>
          <a:prstGeom prst="rect">
            <a:avLst/>
          </a:prstGeom>
          <a:solidFill>
            <a:srgbClr val="F4F6F8"/>
          </a:solidFill>
          <a:ln/>
        </p:spPr>
      </p:sp>
      <p:sp>
        <p:nvSpPr>
          <p:cNvPr id="19" name="Text 17"/>
          <p:cNvSpPr/>
          <p:nvPr/>
        </p:nvSpPr>
        <p:spPr>
          <a:xfrm>
            <a:off x="7086600" y="4114800"/>
            <a:ext cx="4206240" cy="320040"/>
          </a:xfrm>
          <a:prstGeom prst="rect">
            <a:avLst/>
          </a:prstGeom>
          <a:noFill/>
          <a:ln/>
        </p:spPr>
        <p:txBody>
          <a:bodyPr wrap="square" lIns="0" tIns="0" rIns="0" bIns="0" rtlCol="0" anchor="ctr"/>
          <a:lstStyle/>
          <a:p>
            <a:pPr indent="0" marL="0">
              <a:buNone/>
            </a:pPr>
            <a:r>
              <a:rPr lang="en-US" sz="1200" b="1" spc="200" kern="0" dirty="0">
                <a:solidFill>
                  <a:srgbClr val="6B7C8C"/>
                </a:solidFill>
                <a:latin typeface="Calibri" pitchFamily="34" charset="0"/>
                <a:ea typeface="Calibri" pitchFamily="34" charset="-122"/>
                <a:cs typeface="Calibri" pitchFamily="34" charset="-120"/>
              </a:rPr>
              <a:t>Mass diffusivity</a:t>
            </a:r>
            <a:endParaRPr lang="en-US" sz="1200" dirty="0"/>
          </a:p>
        </p:txBody>
      </p:sp>
      <p:sp>
        <p:nvSpPr>
          <p:cNvPr id="20" name="Text 18"/>
          <p:cNvSpPr/>
          <p:nvPr/>
        </p:nvSpPr>
        <p:spPr>
          <a:xfrm>
            <a:off x="7086600" y="4480560"/>
            <a:ext cx="4206240" cy="502920"/>
          </a:xfrm>
          <a:prstGeom prst="rect">
            <a:avLst/>
          </a:prstGeom>
          <a:noFill/>
          <a:ln/>
        </p:spPr>
        <p:txBody>
          <a:bodyPr wrap="square" lIns="0" tIns="0" rIns="0" bIns="0" rtlCol="0" anchor="ctr"/>
          <a:lstStyle/>
          <a:p>
            <a:pPr indent="0" marL="0">
              <a:buNone/>
            </a:pPr>
            <a:r>
              <a:rPr lang="en-US" sz="2400" b="1" dirty="0">
                <a:solidFill>
                  <a:srgbClr val="6B54A8"/>
                </a:solidFill>
                <a:latin typeface="Courier New" pitchFamily="34" charset="0"/>
                <a:ea typeface="Courier New" pitchFamily="34" charset="-122"/>
                <a:cs typeface="Courier New" pitchFamily="34" charset="-120"/>
              </a:rPr>
              <a:t>D</a:t>
            </a:r>
            <a:pPr indent="0" marL="0">
              <a:buNone/>
            </a:pPr>
            <a:r>
              <a:rPr lang="en-US" sz="2400" b="1" baseline="-40000" dirty="0">
                <a:solidFill>
                  <a:srgbClr val="6B54A8"/>
                </a:solidFill>
                <a:latin typeface="Courier New" pitchFamily="34" charset="0"/>
                <a:ea typeface="Courier New" pitchFamily="34" charset="-122"/>
                <a:cs typeface="Courier New" pitchFamily="34" charset="-120"/>
              </a:rPr>
              <a:t>AB</a:t>
            </a:r>
            <a:endParaRPr lang="en-US" sz="2400" dirty="0"/>
          </a:p>
        </p:txBody>
      </p:sp>
      <p:sp>
        <p:nvSpPr>
          <p:cNvPr id="21" name="Text 19"/>
          <p:cNvSpPr/>
          <p:nvPr/>
        </p:nvSpPr>
        <p:spPr>
          <a:xfrm>
            <a:off x="7086600" y="5074920"/>
            <a:ext cx="4206240" cy="685800"/>
          </a:xfrm>
          <a:prstGeom prst="rect">
            <a:avLst/>
          </a:prstGeom>
          <a:noFill/>
          <a:ln/>
        </p:spPr>
        <p:txBody>
          <a:bodyPr wrap="square" lIns="0" tIns="0" rIns="0" bIns="0" rtlCol="0" anchor="ctr"/>
          <a:lstStyle/>
          <a:p>
            <a:pPr indent="0" marL="0">
              <a:lnSpc>
                <a:spcPts val="1800"/>
              </a:lnSpc>
              <a:buNone/>
            </a:pPr>
            <a:r>
              <a:rPr lang="en-US" sz="1300" dirty="0">
                <a:solidFill>
                  <a:srgbClr val="2B3947"/>
                </a:solidFill>
                <a:latin typeface="Calibri" pitchFamily="34" charset="0"/>
                <a:ea typeface="Calibri" pitchFamily="34" charset="-122"/>
                <a:cs typeface="Calibri" pitchFamily="34" charset="-120"/>
              </a:rPr>
              <a:t>Units: m²/s. Three different physical processes, three coefficients, one set of units.</a:t>
            </a:r>
            <a:endParaRPr lang="en-US" sz="1300" dirty="0"/>
          </a:p>
        </p:txBody>
      </p:sp>
      <p:sp>
        <p:nvSpPr>
          <p:cNvPr id="22" name="Text 2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2C"/>
        </a:solidFill>
      </p:bgPr>
    </p:bg>
    <p:spTree>
      <p:nvGrpSpPr>
        <p:cNvPr id="1" name=""/>
        <p:cNvGrpSpPr/>
        <p:nvPr/>
      </p:nvGrpSpPr>
      <p:grpSpPr>
        <a:xfrm>
          <a:off x="0" y="0"/>
          <a:ext cx="0" cy="0"/>
          <a:chOff x="0" y="0"/>
          <a:chExt cx="0" cy="0"/>
        </a:xfrm>
      </p:grpSpPr>
      <p:sp>
        <p:nvSpPr>
          <p:cNvPr id="2" name="Text 0"/>
          <p:cNvSpPr/>
          <p:nvPr/>
        </p:nvSpPr>
        <p:spPr>
          <a:xfrm>
            <a:off x="777240" y="777240"/>
            <a:ext cx="7315200" cy="274320"/>
          </a:xfrm>
          <a:prstGeom prst="rect">
            <a:avLst/>
          </a:prstGeom>
          <a:noFill/>
          <a:ln/>
        </p:spPr>
        <p:txBody>
          <a:bodyPr wrap="square" lIns="0" tIns="0" rIns="0" bIns="0" rtlCol="0" anchor="ctr"/>
          <a:lstStyle/>
          <a:p>
            <a:pPr indent="0" marL="0">
              <a:buNone/>
            </a:pPr>
            <a:r>
              <a:rPr lang="en-US" sz="1100" b="1" spc="200" kern="0" dirty="0">
                <a:solidFill>
                  <a:srgbClr val="5FC4D6"/>
                </a:solidFill>
                <a:latin typeface="Calibri" pitchFamily="34" charset="0"/>
                <a:ea typeface="Calibri" pitchFamily="34" charset="-122"/>
                <a:cs typeface="Calibri" pitchFamily="34" charset="-120"/>
              </a:rPr>
              <a:t>Why the shared units matter</a:t>
            </a:r>
            <a:endParaRPr lang="en-US" sz="1100" dirty="0"/>
          </a:p>
        </p:txBody>
      </p:sp>
      <p:sp>
        <p:nvSpPr>
          <p:cNvPr id="3" name="Text 1"/>
          <p:cNvSpPr/>
          <p:nvPr/>
        </p:nvSpPr>
        <p:spPr>
          <a:xfrm>
            <a:off x="777240" y="1188720"/>
            <a:ext cx="106070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diffusivities. One dimension.</a:t>
            </a:r>
            <a:endParaRPr lang="en-US" sz="3400" dirty="0"/>
          </a:p>
        </p:txBody>
      </p:sp>
      <p:sp>
        <p:nvSpPr>
          <p:cNvPr id="4" name="Text 2"/>
          <p:cNvSpPr/>
          <p:nvPr/>
        </p:nvSpPr>
        <p:spPr>
          <a:xfrm>
            <a:off x="777240" y="1965960"/>
            <a:ext cx="10607040" cy="731520"/>
          </a:xfrm>
          <a:prstGeom prst="rect">
            <a:avLst/>
          </a:prstGeom>
          <a:noFill/>
          <a:ln/>
        </p:spPr>
        <p:txBody>
          <a:bodyPr wrap="square" lIns="0" tIns="0" rIns="0" bIns="0" rtlCol="0" anchor="ctr"/>
          <a:lstStyle/>
          <a:p>
            <a:pPr indent="0" marL="0">
              <a:lnSpc>
                <a:spcPts val="2300"/>
              </a:lnSpc>
              <a:buNone/>
            </a:pPr>
            <a:r>
              <a:rPr lang="en-US" sz="1600" dirty="0">
                <a:solidFill>
                  <a:srgbClr val="A8B6C2"/>
                </a:solidFill>
                <a:latin typeface="Calibri" pitchFamily="34" charset="0"/>
                <a:ea typeface="Calibri" pitchFamily="34" charset="-122"/>
                <a:cs typeface="Calibri" pitchFamily="34" charset="-120"/>
              </a:rPr>
              <a:t>ν, α, and D</a:t>
            </a:r>
            <a:pPr indent="0" marL="0">
              <a:lnSpc>
                <a:spcPts val="2300"/>
              </a:lnSpc>
              <a:buNone/>
            </a:pPr>
            <a:r>
              <a:rPr lang="en-US" sz="1600" baseline="-40000" dirty="0">
                <a:solidFill>
                  <a:srgbClr val="A8B6C2"/>
                </a:solidFill>
                <a:latin typeface="Calibri" pitchFamily="34" charset="0"/>
                <a:ea typeface="Calibri" pitchFamily="34" charset="-122"/>
                <a:cs typeface="Calibri" pitchFamily="34" charset="-120"/>
              </a:rPr>
              <a:t>AB</a:t>
            </a:r>
            <a:pPr indent="0" marL="0">
              <a:lnSpc>
                <a:spcPts val="2300"/>
              </a:lnSpc>
              <a:buNone/>
            </a:pPr>
            <a:r>
              <a:rPr lang="en-US" sz="1600" dirty="0">
                <a:solidFill>
                  <a:srgbClr val="A8B6C2"/>
                </a:solidFill>
                <a:latin typeface="Calibri" pitchFamily="34" charset="0"/>
                <a:ea typeface="Calibri" pitchFamily="34" charset="-122"/>
                <a:cs typeface="Calibri" pitchFamily="34" charset="-120"/>
              </a:rPr>
              <a:t> all carry units of m²/s. Their ratios are therefore dimensionless — and each one tells you which front travels further in a given time.</a:t>
            </a:r>
            <a:endParaRPr lang="en-US" sz="1600" dirty="0"/>
          </a:p>
        </p:txBody>
      </p:sp>
      <p:sp>
        <p:nvSpPr>
          <p:cNvPr id="5" name="Shape 3"/>
          <p:cNvSpPr/>
          <p:nvPr/>
        </p:nvSpPr>
        <p:spPr>
          <a:xfrm>
            <a:off x="777240" y="2971800"/>
            <a:ext cx="3291840" cy="1965960"/>
          </a:xfrm>
          <a:prstGeom prst="rect">
            <a:avLst/>
          </a:prstGeom>
          <a:solidFill>
            <a:srgbClr val="1E2E3D"/>
          </a:solidFill>
          <a:ln/>
        </p:spPr>
      </p:sp>
      <p:sp>
        <p:nvSpPr>
          <p:cNvPr id="6" name="Text 4"/>
          <p:cNvSpPr/>
          <p:nvPr/>
        </p:nvSpPr>
        <p:spPr>
          <a:xfrm>
            <a:off x="1097280" y="3200400"/>
            <a:ext cx="1371600" cy="548640"/>
          </a:xfrm>
          <a:prstGeom prst="rect">
            <a:avLst/>
          </a:prstGeom>
          <a:noFill/>
          <a:ln/>
        </p:spPr>
        <p:txBody>
          <a:bodyPr wrap="square" lIns="0" tIns="0" rIns="0" bIns="0" rtlCol="0" anchor="ctr"/>
          <a:lstStyle/>
          <a:p>
            <a:pPr indent="0" marL="0">
              <a:buNone/>
            </a:pPr>
            <a:r>
              <a:rPr lang="en-US" sz="3400" b="1" dirty="0">
                <a:solidFill>
                  <a:srgbClr val="5FC4D6"/>
                </a:solidFill>
                <a:latin typeface="Cambria" pitchFamily="34" charset="0"/>
                <a:ea typeface="Cambria" pitchFamily="34" charset="-122"/>
                <a:cs typeface="Cambria" pitchFamily="34" charset="-120"/>
              </a:rPr>
              <a:t>Pr</a:t>
            </a:r>
            <a:endParaRPr lang="en-US" sz="3400" dirty="0"/>
          </a:p>
        </p:txBody>
      </p:sp>
      <p:sp>
        <p:nvSpPr>
          <p:cNvPr id="7" name="Text 5"/>
          <p:cNvSpPr/>
          <p:nvPr/>
        </p:nvSpPr>
        <p:spPr>
          <a:xfrm>
            <a:off x="1097280" y="3794760"/>
            <a:ext cx="26517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Prandtl</a:t>
            </a:r>
            <a:endParaRPr lang="en-US" sz="1400" dirty="0"/>
          </a:p>
        </p:txBody>
      </p:sp>
      <p:sp>
        <p:nvSpPr>
          <p:cNvPr id="8" name="Text 6"/>
          <p:cNvSpPr/>
          <p:nvPr/>
        </p:nvSpPr>
        <p:spPr>
          <a:xfrm>
            <a:off x="1097280" y="4160520"/>
            <a:ext cx="2651760" cy="320040"/>
          </a:xfrm>
          <a:prstGeom prst="rect">
            <a:avLst/>
          </a:prstGeom>
          <a:noFill/>
          <a:ln/>
        </p:spPr>
        <p:txBody>
          <a:bodyPr wrap="square" lIns="0" tIns="0" rIns="0" bIns="0" rtlCol="0" anchor="ctr"/>
          <a:lstStyle/>
          <a:p>
            <a:pPr indent="0" marL="0">
              <a:buNone/>
            </a:pPr>
            <a:r>
              <a:rPr lang="en-US" sz="1500" dirty="0">
                <a:solidFill>
                  <a:srgbClr val="5FC4D6"/>
                </a:solidFill>
                <a:latin typeface="Courier New" pitchFamily="34" charset="0"/>
                <a:ea typeface="Courier New" pitchFamily="34" charset="-122"/>
                <a:cs typeface="Courier New" pitchFamily="34" charset="-120"/>
              </a:rPr>
              <a:t>ν / α</a:t>
            </a:r>
            <a:endParaRPr lang="en-US" sz="1500" dirty="0"/>
          </a:p>
        </p:txBody>
      </p:sp>
      <p:sp>
        <p:nvSpPr>
          <p:cNvPr id="9" name="Text 7"/>
          <p:cNvSpPr/>
          <p:nvPr/>
        </p:nvSpPr>
        <p:spPr>
          <a:xfrm>
            <a:off x="1097280" y="4526280"/>
            <a:ext cx="2651760" cy="320040"/>
          </a:xfrm>
          <a:prstGeom prst="rect">
            <a:avLst/>
          </a:prstGeom>
          <a:noFill/>
          <a:ln/>
        </p:spPr>
        <p:txBody>
          <a:bodyPr wrap="square" lIns="0" tIns="0" rIns="0" bIns="0" rtlCol="0" anchor="ctr"/>
          <a:lstStyle/>
          <a:p>
            <a:pPr indent="0" marL="0">
              <a:buNone/>
            </a:pPr>
            <a:r>
              <a:rPr lang="en-US" sz="1250" i="1" dirty="0">
                <a:solidFill>
                  <a:srgbClr val="8FA0AE"/>
                </a:solidFill>
                <a:latin typeface="Calibri" pitchFamily="34" charset="0"/>
                <a:ea typeface="Calibri" pitchFamily="34" charset="-122"/>
                <a:cs typeface="Calibri" pitchFamily="34" charset="-120"/>
              </a:rPr>
              <a:t>momentum vs heat</a:t>
            </a:r>
            <a:endParaRPr lang="en-US" sz="1250" dirty="0"/>
          </a:p>
        </p:txBody>
      </p:sp>
      <p:sp>
        <p:nvSpPr>
          <p:cNvPr id="10" name="Shape 8"/>
          <p:cNvSpPr/>
          <p:nvPr/>
        </p:nvSpPr>
        <p:spPr>
          <a:xfrm>
            <a:off x="4389120" y="2971800"/>
            <a:ext cx="3291840" cy="1965960"/>
          </a:xfrm>
          <a:prstGeom prst="rect">
            <a:avLst/>
          </a:prstGeom>
          <a:solidFill>
            <a:srgbClr val="1E2E3D"/>
          </a:solidFill>
          <a:ln/>
        </p:spPr>
      </p:sp>
      <p:sp>
        <p:nvSpPr>
          <p:cNvPr id="11" name="Text 9"/>
          <p:cNvSpPr/>
          <p:nvPr/>
        </p:nvSpPr>
        <p:spPr>
          <a:xfrm>
            <a:off x="4709160" y="3200400"/>
            <a:ext cx="1371600" cy="548640"/>
          </a:xfrm>
          <a:prstGeom prst="rect">
            <a:avLst/>
          </a:prstGeom>
          <a:noFill/>
          <a:ln/>
        </p:spPr>
        <p:txBody>
          <a:bodyPr wrap="square" lIns="0" tIns="0" rIns="0" bIns="0" rtlCol="0" anchor="ctr"/>
          <a:lstStyle/>
          <a:p>
            <a:pPr indent="0" marL="0">
              <a:buNone/>
            </a:pPr>
            <a:r>
              <a:rPr lang="en-US" sz="3400" b="1" dirty="0">
                <a:solidFill>
                  <a:srgbClr val="F0865C"/>
                </a:solidFill>
                <a:latin typeface="Cambria" pitchFamily="34" charset="0"/>
                <a:ea typeface="Cambria" pitchFamily="34" charset="-122"/>
                <a:cs typeface="Cambria" pitchFamily="34" charset="-120"/>
              </a:rPr>
              <a:t>Sc</a:t>
            </a:r>
            <a:endParaRPr lang="en-US" sz="3400" dirty="0"/>
          </a:p>
        </p:txBody>
      </p:sp>
      <p:sp>
        <p:nvSpPr>
          <p:cNvPr id="12" name="Text 10"/>
          <p:cNvSpPr/>
          <p:nvPr/>
        </p:nvSpPr>
        <p:spPr>
          <a:xfrm>
            <a:off x="4709160" y="3794760"/>
            <a:ext cx="26517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Schmidt</a:t>
            </a:r>
            <a:endParaRPr lang="en-US" sz="1400" dirty="0"/>
          </a:p>
        </p:txBody>
      </p:sp>
      <p:sp>
        <p:nvSpPr>
          <p:cNvPr id="13" name="Text 11"/>
          <p:cNvSpPr/>
          <p:nvPr/>
        </p:nvSpPr>
        <p:spPr>
          <a:xfrm>
            <a:off x="4709160" y="4160520"/>
            <a:ext cx="2651760" cy="320040"/>
          </a:xfrm>
          <a:prstGeom prst="rect">
            <a:avLst/>
          </a:prstGeom>
          <a:noFill/>
          <a:ln/>
        </p:spPr>
        <p:txBody>
          <a:bodyPr wrap="square" lIns="0" tIns="0" rIns="0" bIns="0" rtlCol="0" anchor="ctr"/>
          <a:lstStyle/>
          <a:p>
            <a:pPr indent="0" marL="0">
              <a:buNone/>
            </a:pPr>
            <a:r>
              <a:rPr lang="en-US" sz="1500" dirty="0">
                <a:solidFill>
                  <a:srgbClr val="F0865C"/>
                </a:solidFill>
                <a:latin typeface="Courier New" pitchFamily="34" charset="0"/>
                <a:ea typeface="Courier New" pitchFamily="34" charset="-122"/>
                <a:cs typeface="Courier New" pitchFamily="34" charset="-120"/>
              </a:rPr>
              <a:t>ν / D</a:t>
            </a:r>
            <a:pPr indent="0" marL="0">
              <a:buNone/>
            </a:pPr>
            <a:r>
              <a:rPr lang="en-US" sz="1500" baseline="-40000" dirty="0">
                <a:solidFill>
                  <a:srgbClr val="F0865C"/>
                </a:solidFill>
                <a:latin typeface="Courier New" pitchFamily="34" charset="0"/>
                <a:ea typeface="Courier New" pitchFamily="34" charset="-122"/>
                <a:cs typeface="Courier New" pitchFamily="34" charset="-120"/>
              </a:rPr>
              <a:t>AB</a:t>
            </a:r>
            <a:endParaRPr lang="en-US" sz="1500" dirty="0"/>
          </a:p>
        </p:txBody>
      </p:sp>
      <p:sp>
        <p:nvSpPr>
          <p:cNvPr id="14" name="Text 12"/>
          <p:cNvSpPr/>
          <p:nvPr/>
        </p:nvSpPr>
        <p:spPr>
          <a:xfrm>
            <a:off x="4709160" y="4526280"/>
            <a:ext cx="2651760" cy="320040"/>
          </a:xfrm>
          <a:prstGeom prst="rect">
            <a:avLst/>
          </a:prstGeom>
          <a:noFill/>
          <a:ln/>
        </p:spPr>
        <p:txBody>
          <a:bodyPr wrap="square" lIns="0" tIns="0" rIns="0" bIns="0" rtlCol="0" anchor="ctr"/>
          <a:lstStyle/>
          <a:p>
            <a:pPr indent="0" marL="0">
              <a:buNone/>
            </a:pPr>
            <a:r>
              <a:rPr lang="en-US" sz="1250" i="1" dirty="0">
                <a:solidFill>
                  <a:srgbClr val="8FA0AE"/>
                </a:solidFill>
                <a:latin typeface="Calibri" pitchFamily="34" charset="0"/>
                <a:ea typeface="Calibri" pitchFamily="34" charset="-122"/>
                <a:cs typeface="Calibri" pitchFamily="34" charset="-120"/>
              </a:rPr>
              <a:t>momentum vs mass</a:t>
            </a:r>
            <a:endParaRPr lang="en-US" sz="1250" dirty="0"/>
          </a:p>
        </p:txBody>
      </p:sp>
      <p:sp>
        <p:nvSpPr>
          <p:cNvPr id="15" name="Shape 13"/>
          <p:cNvSpPr/>
          <p:nvPr/>
        </p:nvSpPr>
        <p:spPr>
          <a:xfrm>
            <a:off x="8001000" y="2971800"/>
            <a:ext cx="3291840" cy="1965960"/>
          </a:xfrm>
          <a:prstGeom prst="rect">
            <a:avLst/>
          </a:prstGeom>
          <a:solidFill>
            <a:srgbClr val="1E2E3D"/>
          </a:solidFill>
          <a:ln/>
        </p:spPr>
      </p:sp>
      <p:sp>
        <p:nvSpPr>
          <p:cNvPr id="16" name="Text 14"/>
          <p:cNvSpPr/>
          <p:nvPr/>
        </p:nvSpPr>
        <p:spPr>
          <a:xfrm>
            <a:off x="8321040" y="3200400"/>
            <a:ext cx="1371600" cy="548640"/>
          </a:xfrm>
          <a:prstGeom prst="rect">
            <a:avLst/>
          </a:prstGeom>
          <a:noFill/>
          <a:ln/>
        </p:spPr>
        <p:txBody>
          <a:bodyPr wrap="square" lIns="0" tIns="0" rIns="0" bIns="0" rtlCol="0" anchor="ctr"/>
          <a:lstStyle/>
          <a:p>
            <a:pPr indent="0" marL="0">
              <a:buNone/>
            </a:pPr>
            <a:r>
              <a:rPr lang="en-US" sz="3400" b="1" dirty="0">
                <a:solidFill>
                  <a:srgbClr val="A78FE0"/>
                </a:solidFill>
                <a:latin typeface="Cambria" pitchFamily="34" charset="0"/>
                <a:ea typeface="Cambria" pitchFamily="34" charset="-122"/>
                <a:cs typeface="Cambria" pitchFamily="34" charset="-120"/>
              </a:rPr>
              <a:t>Le</a:t>
            </a:r>
            <a:endParaRPr lang="en-US" sz="3400" dirty="0"/>
          </a:p>
        </p:txBody>
      </p:sp>
      <p:sp>
        <p:nvSpPr>
          <p:cNvPr id="17" name="Text 15"/>
          <p:cNvSpPr/>
          <p:nvPr/>
        </p:nvSpPr>
        <p:spPr>
          <a:xfrm>
            <a:off x="8321040" y="3794760"/>
            <a:ext cx="26517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Lewis</a:t>
            </a:r>
            <a:endParaRPr lang="en-US" sz="1400" dirty="0"/>
          </a:p>
        </p:txBody>
      </p:sp>
      <p:sp>
        <p:nvSpPr>
          <p:cNvPr id="18" name="Text 16"/>
          <p:cNvSpPr/>
          <p:nvPr/>
        </p:nvSpPr>
        <p:spPr>
          <a:xfrm>
            <a:off x="8321040" y="4160520"/>
            <a:ext cx="2651760" cy="320040"/>
          </a:xfrm>
          <a:prstGeom prst="rect">
            <a:avLst/>
          </a:prstGeom>
          <a:noFill/>
          <a:ln/>
        </p:spPr>
        <p:txBody>
          <a:bodyPr wrap="square" lIns="0" tIns="0" rIns="0" bIns="0" rtlCol="0" anchor="ctr"/>
          <a:lstStyle/>
          <a:p>
            <a:pPr indent="0" marL="0">
              <a:buNone/>
            </a:pPr>
            <a:r>
              <a:rPr lang="en-US" sz="1500" dirty="0">
                <a:solidFill>
                  <a:srgbClr val="A78FE0"/>
                </a:solidFill>
                <a:latin typeface="Courier New" pitchFamily="34" charset="0"/>
                <a:ea typeface="Courier New" pitchFamily="34" charset="-122"/>
                <a:cs typeface="Courier New" pitchFamily="34" charset="-120"/>
              </a:rPr>
              <a:t>α / D</a:t>
            </a:r>
            <a:pPr indent="0" marL="0">
              <a:buNone/>
            </a:pPr>
            <a:r>
              <a:rPr lang="en-US" sz="1500" baseline="-40000" dirty="0">
                <a:solidFill>
                  <a:srgbClr val="A78FE0"/>
                </a:solidFill>
                <a:latin typeface="Courier New" pitchFamily="34" charset="0"/>
                <a:ea typeface="Courier New" pitchFamily="34" charset="-122"/>
                <a:cs typeface="Courier New" pitchFamily="34" charset="-120"/>
              </a:rPr>
              <a:t>AB</a:t>
            </a:r>
            <a:endParaRPr lang="en-US" sz="1500" dirty="0"/>
          </a:p>
        </p:txBody>
      </p:sp>
      <p:sp>
        <p:nvSpPr>
          <p:cNvPr id="19" name="Text 17"/>
          <p:cNvSpPr/>
          <p:nvPr/>
        </p:nvSpPr>
        <p:spPr>
          <a:xfrm>
            <a:off x="8321040" y="4526280"/>
            <a:ext cx="2651760" cy="320040"/>
          </a:xfrm>
          <a:prstGeom prst="rect">
            <a:avLst/>
          </a:prstGeom>
          <a:noFill/>
          <a:ln/>
        </p:spPr>
        <p:txBody>
          <a:bodyPr wrap="square" lIns="0" tIns="0" rIns="0" bIns="0" rtlCol="0" anchor="ctr"/>
          <a:lstStyle/>
          <a:p>
            <a:pPr indent="0" marL="0">
              <a:buNone/>
            </a:pPr>
            <a:r>
              <a:rPr lang="en-US" sz="1250" i="1" dirty="0">
                <a:solidFill>
                  <a:srgbClr val="8FA0AE"/>
                </a:solidFill>
                <a:latin typeface="Calibri" pitchFamily="34" charset="0"/>
                <a:ea typeface="Calibri" pitchFamily="34" charset="-122"/>
                <a:cs typeface="Calibri" pitchFamily="34" charset="-120"/>
              </a:rPr>
              <a:t>heat vs mass</a:t>
            </a:r>
            <a:endParaRPr lang="en-US" sz="1250" dirty="0"/>
          </a:p>
        </p:txBody>
      </p:sp>
      <p:sp>
        <p:nvSpPr>
          <p:cNvPr id="20" name="Text 18"/>
          <p:cNvSpPr/>
          <p:nvPr/>
        </p:nvSpPr>
        <p:spPr>
          <a:xfrm>
            <a:off x="777240" y="5349240"/>
            <a:ext cx="7315200" cy="365760"/>
          </a:xfrm>
          <a:prstGeom prst="rect">
            <a:avLst/>
          </a:prstGeom>
          <a:noFill/>
          <a:ln/>
        </p:spPr>
        <p:txBody>
          <a:bodyPr wrap="square" lIns="0" tIns="0" rIns="0" bIns="0" rtlCol="0" anchor="ctr"/>
          <a:lstStyle/>
          <a:p>
            <a:pPr indent="0" marL="0">
              <a:buNone/>
            </a:pPr>
            <a:r>
              <a:rPr lang="en-US" sz="1500" b="1" u="sng" dirty="0">
                <a:solidFill>
                  <a:srgbClr val="5FC4D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Watch the three fronts race  →  the diffusivity visualiser</a:t>
            </a:r>
            <a:endParaRPr lang="en-US" sz="1500" dirty="0"/>
          </a:p>
        </p:txBody>
      </p:sp>
      <p:sp>
        <p:nvSpPr>
          <p:cNvPr id="21" name="Text 19"/>
          <p:cNvSpPr/>
          <p:nvPr/>
        </p:nvSpPr>
        <p:spPr>
          <a:xfrm>
            <a:off x="777240" y="5897880"/>
            <a:ext cx="10607040" cy="365760"/>
          </a:xfrm>
          <a:prstGeom prst="rect">
            <a:avLst/>
          </a:prstGeom>
          <a:noFill/>
          <a:ln/>
        </p:spPr>
        <p:txBody>
          <a:bodyPr wrap="square" lIns="0" tIns="0" rIns="0" bIns="0" rtlCol="0" anchor="ctr"/>
          <a:lstStyle/>
          <a:p>
            <a:pPr indent="0" marL="0">
              <a:buNone/>
            </a:pPr>
            <a:r>
              <a:rPr lang="en-US" sz="1400" i="1" dirty="0">
                <a:solidFill>
                  <a:srgbClr val="6B7C8C"/>
                </a:solidFill>
                <a:latin typeface="Calibri" pitchFamily="34" charset="0"/>
                <a:ea typeface="Calibri" pitchFamily="34" charset="-122"/>
                <a:cs typeface="Calibri" pitchFamily="34" charset="-120"/>
              </a:rPr>
              <a:t>Solve one boundary-layer problem properly and you have solved all three.</a:t>
            </a:r>
            <a:endParaRPr lang="en-US" sz="1400" dirty="0"/>
          </a:p>
        </p:txBody>
      </p:sp>
      <p:sp>
        <p:nvSpPr>
          <p:cNvPr id="22" name="Text 2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2E8B9E"/>
                </a:solidFill>
                <a:latin typeface="Calibri" pitchFamily="34" charset="0"/>
                <a:ea typeface="Calibri" pitchFamily="34" charset="-122"/>
                <a:cs typeface="Calibri" pitchFamily="34" charset="-120"/>
              </a:rPr>
              <a:t>CHECK YOUR UNDERSTANDING  ·  RECALL</a:t>
            </a:r>
            <a:endParaRPr lang="en-US" sz="1100" dirty="0"/>
          </a:p>
        </p:txBody>
      </p:sp>
      <p:sp>
        <p:nvSpPr>
          <p:cNvPr id="3" name="Text 1"/>
          <p:cNvSpPr/>
          <p:nvPr/>
        </p:nvSpPr>
        <p:spPr>
          <a:xfrm>
            <a:off x="548640" y="713232"/>
            <a:ext cx="1097280" cy="685800"/>
          </a:xfrm>
          <a:prstGeom prst="rect">
            <a:avLst/>
          </a:prstGeom>
          <a:noFill/>
          <a:ln/>
        </p:spPr>
        <p:txBody>
          <a:bodyPr wrap="square" lIns="0" tIns="0" rIns="0" bIns="0" rtlCol="0" anchor="ctr"/>
          <a:lstStyle/>
          <a:p>
            <a:pPr indent="0" marL="0">
              <a:buNone/>
            </a:pPr>
            <a:r>
              <a:rPr lang="en-US" sz="4000" b="1" dirty="0">
                <a:solidFill>
                  <a:srgbClr val="2E8B9E"/>
                </a:solidFill>
                <a:latin typeface="Cambria" pitchFamily="34" charset="0"/>
                <a:ea typeface="Cambria" pitchFamily="34" charset="-122"/>
                <a:cs typeface="Cambria" pitchFamily="34" charset="-120"/>
              </a:rPr>
              <a:t>Q1</a:t>
            </a:r>
            <a:endParaRPr lang="en-US" sz="4000" dirty="0"/>
          </a:p>
        </p:txBody>
      </p:sp>
      <p:sp>
        <p:nvSpPr>
          <p:cNvPr id="4" name="Text 2"/>
          <p:cNvSpPr/>
          <p:nvPr/>
        </p:nvSpPr>
        <p:spPr>
          <a:xfrm>
            <a:off x="1691640" y="777240"/>
            <a:ext cx="9875520" cy="1051560"/>
          </a:xfrm>
          <a:prstGeom prst="rect">
            <a:avLst/>
          </a:prstGeom>
          <a:noFill/>
          <a:ln/>
        </p:spPr>
        <p:txBody>
          <a:bodyPr wrap="square" lIns="0" tIns="0" rIns="0" bIns="0" rtlCol="0" anchor="ctr"/>
          <a:lstStyle/>
          <a:p>
            <a:pPr indent="0" marL="0">
              <a:lnSpc>
                <a:spcPts val="3200"/>
              </a:lnSpc>
              <a:buNone/>
            </a:pPr>
            <a:r>
              <a:rPr lang="en-US" sz="2500" b="1" dirty="0">
                <a:solidFill>
                  <a:srgbClr val="13202C"/>
                </a:solidFill>
                <a:latin typeface="Cambria" pitchFamily="34" charset="0"/>
                <a:ea typeface="Cambria" pitchFamily="34" charset="-122"/>
                <a:cs typeface="Cambria" pitchFamily="34" charset="-120"/>
              </a:rPr>
              <a:t>A copper bar has one end held hot and the other cold. Which law describes the heat flowing along it?</a:t>
            </a:r>
            <a:endParaRPr lang="en-US" sz="2500" dirty="0"/>
          </a:p>
        </p:txBody>
      </p:sp>
      <p:sp>
        <p:nvSpPr>
          <p:cNvPr id="5" name="Shape 3"/>
          <p:cNvSpPr/>
          <p:nvPr/>
        </p:nvSpPr>
        <p:spPr>
          <a:xfrm>
            <a:off x="548640" y="2240280"/>
            <a:ext cx="11064240" cy="685800"/>
          </a:xfrm>
          <a:prstGeom prst="rect">
            <a:avLst/>
          </a:prstGeom>
          <a:solidFill>
            <a:srgbClr val="F4F6F8"/>
          </a:solidFill>
          <a:ln/>
        </p:spPr>
      </p:sp>
      <p:sp>
        <p:nvSpPr>
          <p:cNvPr id="6" name="Shape 4"/>
          <p:cNvSpPr/>
          <p:nvPr/>
        </p:nvSpPr>
        <p:spPr>
          <a:xfrm>
            <a:off x="868680" y="2414016"/>
            <a:ext cx="347472" cy="347472"/>
          </a:xfrm>
          <a:prstGeom prst="ellipse">
            <a:avLst/>
          </a:prstGeom>
          <a:solidFill>
            <a:srgbClr val="FFFFFF"/>
          </a:solidFill>
          <a:ln w="12700">
            <a:solidFill>
              <a:srgbClr val="C8D1D9"/>
            </a:solidFill>
            <a:prstDash val="solid"/>
          </a:ln>
        </p:spPr>
      </p:sp>
      <p:sp>
        <p:nvSpPr>
          <p:cNvPr id="7" name="Text 5"/>
          <p:cNvSpPr/>
          <p:nvPr/>
        </p:nvSpPr>
        <p:spPr>
          <a:xfrm>
            <a:off x="868680" y="2414016"/>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1463040" y="2295144"/>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Newton's law of viscosity</a:t>
            </a:r>
            <a:endParaRPr lang="en-US" sz="1500" dirty="0"/>
          </a:p>
        </p:txBody>
      </p:sp>
      <p:sp>
        <p:nvSpPr>
          <p:cNvPr id="9" name="Shape 7"/>
          <p:cNvSpPr/>
          <p:nvPr/>
        </p:nvSpPr>
        <p:spPr>
          <a:xfrm>
            <a:off x="548640" y="3081528"/>
            <a:ext cx="11064240" cy="685800"/>
          </a:xfrm>
          <a:prstGeom prst="rect">
            <a:avLst/>
          </a:prstGeom>
          <a:solidFill>
            <a:srgbClr val="F4F6F8"/>
          </a:solidFill>
          <a:ln/>
        </p:spPr>
      </p:sp>
      <p:sp>
        <p:nvSpPr>
          <p:cNvPr id="10" name="Shape 8"/>
          <p:cNvSpPr/>
          <p:nvPr/>
        </p:nvSpPr>
        <p:spPr>
          <a:xfrm>
            <a:off x="868680" y="3255264"/>
            <a:ext cx="347472" cy="347472"/>
          </a:xfrm>
          <a:prstGeom prst="ellipse">
            <a:avLst/>
          </a:prstGeom>
          <a:solidFill>
            <a:srgbClr val="FFFFFF"/>
          </a:solidFill>
          <a:ln w="12700">
            <a:solidFill>
              <a:srgbClr val="C8D1D9"/>
            </a:solidFill>
            <a:prstDash val="solid"/>
          </a:ln>
        </p:spPr>
      </p:sp>
      <p:sp>
        <p:nvSpPr>
          <p:cNvPr id="11" name="Text 9"/>
          <p:cNvSpPr/>
          <p:nvPr/>
        </p:nvSpPr>
        <p:spPr>
          <a:xfrm>
            <a:off x="868680" y="3255264"/>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1463040" y="3136392"/>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Fourier's law of heat conduction</a:t>
            </a:r>
            <a:endParaRPr lang="en-US" sz="1500" dirty="0"/>
          </a:p>
        </p:txBody>
      </p:sp>
      <p:sp>
        <p:nvSpPr>
          <p:cNvPr id="13" name="Shape 11"/>
          <p:cNvSpPr/>
          <p:nvPr/>
        </p:nvSpPr>
        <p:spPr>
          <a:xfrm>
            <a:off x="548640" y="3922776"/>
            <a:ext cx="11064240" cy="685800"/>
          </a:xfrm>
          <a:prstGeom prst="rect">
            <a:avLst/>
          </a:prstGeom>
          <a:solidFill>
            <a:srgbClr val="F4F6F8"/>
          </a:solidFill>
          <a:ln/>
        </p:spPr>
      </p:sp>
      <p:sp>
        <p:nvSpPr>
          <p:cNvPr id="14" name="Shape 12"/>
          <p:cNvSpPr/>
          <p:nvPr/>
        </p:nvSpPr>
        <p:spPr>
          <a:xfrm>
            <a:off x="868680" y="4096512"/>
            <a:ext cx="347472" cy="347472"/>
          </a:xfrm>
          <a:prstGeom prst="ellipse">
            <a:avLst/>
          </a:prstGeom>
          <a:solidFill>
            <a:srgbClr val="FFFFFF"/>
          </a:solidFill>
          <a:ln w="12700">
            <a:solidFill>
              <a:srgbClr val="C8D1D9"/>
            </a:solidFill>
            <a:prstDash val="solid"/>
          </a:ln>
        </p:spPr>
      </p:sp>
      <p:sp>
        <p:nvSpPr>
          <p:cNvPr id="15" name="Text 13"/>
          <p:cNvSpPr/>
          <p:nvPr/>
        </p:nvSpPr>
        <p:spPr>
          <a:xfrm>
            <a:off x="868680" y="4096512"/>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C</a:t>
            </a:r>
            <a:endParaRPr lang="en-US" sz="1300" dirty="0"/>
          </a:p>
        </p:txBody>
      </p:sp>
      <p:sp>
        <p:nvSpPr>
          <p:cNvPr id="16" name="Text 14"/>
          <p:cNvSpPr/>
          <p:nvPr/>
        </p:nvSpPr>
        <p:spPr>
          <a:xfrm>
            <a:off x="1463040" y="3977640"/>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Fick's law of molecular diffusion</a:t>
            </a:r>
            <a:endParaRPr lang="en-US" sz="1500" dirty="0"/>
          </a:p>
        </p:txBody>
      </p:sp>
      <p:sp>
        <p:nvSpPr>
          <p:cNvPr id="17" name="Shape 15"/>
          <p:cNvSpPr/>
          <p:nvPr/>
        </p:nvSpPr>
        <p:spPr>
          <a:xfrm>
            <a:off x="548640" y="4764024"/>
            <a:ext cx="11064240" cy="685800"/>
          </a:xfrm>
          <a:prstGeom prst="rect">
            <a:avLst/>
          </a:prstGeom>
          <a:solidFill>
            <a:srgbClr val="F4F6F8"/>
          </a:solidFill>
          <a:ln/>
        </p:spPr>
      </p:sp>
      <p:sp>
        <p:nvSpPr>
          <p:cNvPr id="18" name="Shape 16"/>
          <p:cNvSpPr/>
          <p:nvPr/>
        </p:nvSpPr>
        <p:spPr>
          <a:xfrm>
            <a:off x="868680" y="4937760"/>
            <a:ext cx="347472" cy="347472"/>
          </a:xfrm>
          <a:prstGeom prst="ellipse">
            <a:avLst/>
          </a:prstGeom>
          <a:solidFill>
            <a:srgbClr val="FFFFFF"/>
          </a:solidFill>
          <a:ln w="12700">
            <a:solidFill>
              <a:srgbClr val="C8D1D9"/>
            </a:solidFill>
            <a:prstDash val="solid"/>
          </a:ln>
        </p:spPr>
      </p:sp>
      <p:sp>
        <p:nvSpPr>
          <p:cNvPr id="19" name="Text 17"/>
          <p:cNvSpPr/>
          <p:nvPr/>
        </p:nvSpPr>
        <p:spPr>
          <a:xfrm>
            <a:off x="868680" y="4937760"/>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D</a:t>
            </a:r>
            <a:endParaRPr lang="en-US" sz="1300" dirty="0"/>
          </a:p>
        </p:txBody>
      </p:sp>
      <p:sp>
        <p:nvSpPr>
          <p:cNvPr id="20" name="Text 18"/>
          <p:cNvSpPr/>
          <p:nvPr/>
        </p:nvSpPr>
        <p:spPr>
          <a:xfrm>
            <a:off x="1463040" y="4818888"/>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None — no transport occurs in a solid</a:t>
            </a:r>
            <a:endParaRPr lang="en-US" sz="1500" dirty="0"/>
          </a:p>
        </p:txBody>
      </p:sp>
      <p:sp>
        <p:nvSpPr>
          <p:cNvPr id="21" name="Text 19"/>
          <p:cNvSpPr/>
          <p:nvPr/>
        </p:nvSpPr>
        <p:spPr>
          <a:xfrm>
            <a:off x="548640" y="5833872"/>
            <a:ext cx="11064240" cy="365760"/>
          </a:xfrm>
          <a:prstGeom prst="rect">
            <a:avLst/>
          </a:prstGeom>
          <a:noFill/>
          <a:ln/>
        </p:spPr>
        <p:txBody>
          <a:bodyPr wrap="square" lIns="0" tIns="0" rIns="0" bIns="0" rtlCol="0" anchor="ctr"/>
          <a:lstStyle/>
          <a:p>
            <a:pPr indent="0" marL="0">
              <a:buNone/>
            </a:pPr>
            <a:r>
              <a:rPr lang="en-US" sz="1400" i="1" dirty="0">
                <a:solidFill>
                  <a:srgbClr val="6B7C8C"/>
                </a:solidFill>
                <a:latin typeface="Calibri" pitchFamily="34" charset="0"/>
                <a:ea typeface="Calibri" pitchFamily="34" charset="-122"/>
                <a:cs typeface="Calibri" pitchFamily="34" charset="-120"/>
              </a:rPr>
              <a:t>Show of hands before you move on.</a:t>
            </a:r>
            <a:endParaRPr lang="en-US" sz="1400" dirty="0"/>
          </a:p>
        </p:txBody>
      </p:sp>
      <p:sp>
        <p:nvSpPr>
          <p:cNvPr id="22" name="Text 2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C9552E"/>
                </a:solidFill>
                <a:latin typeface="Calibri" pitchFamily="34" charset="0"/>
                <a:ea typeface="Calibri" pitchFamily="34" charset="-122"/>
                <a:cs typeface="Calibri" pitchFamily="34" charset="-120"/>
              </a:rPr>
              <a:t>CHECK YOUR UNDERSTANDING  ·  APPLY</a:t>
            </a:r>
            <a:endParaRPr lang="en-US" sz="1100" dirty="0"/>
          </a:p>
        </p:txBody>
      </p:sp>
      <p:sp>
        <p:nvSpPr>
          <p:cNvPr id="3" name="Text 1"/>
          <p:cNvSpPr/>
          <p:nvPr/>
        </p:nvSpPr>
        <p:spPr>
          <a:xfrm>
            <a:off x="548640" y="713232"/>
            <a:ext cx="1097280" cy="685800"/>
          </a:xfrm>
          <a:prstGeom prst="rect">
            <a:avLst/>
          </a:prstGeom>
          <a:noFill/>
          <a:ln/>
        </p:spPr>
        <p:txBody>
          <a:bodyPr wrap="square" lIns="0" tIns="0" rIns="0" bIns="0" rtlCol="0" anchor="ctr"/>
          <a:lstStyle/>
          <a:p>
            <a:pPr indent="0" marL="0">
              <a:buNone/>
            </a:pPr>
            <a:r>
              <a:rPr lang="en-US" sz="4000" b="1" dirty="0">
                <a:solidFill>
                  <a:srgbClr val="C9552E"/>
                </a:solidFill>
                <a:latin typeface="Cambria" pitchFamily="34" charset="0"/>
                <a:ea typeface="Cambria" pitchFamily="34" charset="-122"/>
                <a:cs typeface="Cambria" pitchFamily="34" charset="-120"/>
              </a:rPr>
              <a:t>Q2</a:t>
            </a:r>
            <a:endParaRPr lang="en-US" sz="4000" dirty="0"/>
          </a:p>
        </p:txBody>
      </p:sp>
      <p:sp>
        <p:nvSpPr>
          <p:cNvPr id="4" name="Text 2"/>
          <p:cNvSpPr/>
          <p:nvPr/>
        </p:nvSpPr>
        <p:spPr>
          <a:xfrm>
            <a:off x="1691640" y="777240"/>
            <a:ext cx="9875520" cy="1051560"/>
          </a:xfrm>
          <a:prstGeom prst="rect">
            <a:avLst/>
          </a:prstGeom>
          <a:noFill/>
          <a:ln/>
        </p:spPr>
        <p:txBody>
          <a:bodyPr wrap="square" lIns="0" tIns="0" rIns="0" bIns="0" rtlCol="0" anchor="ctr"/>
          <a:lstStyle/>
          <a:p>
            <a:pPr indent="0" marL="0">
              <a:lnSpc>
                <a:spcPts val="3200"/>
              </a:lnSpc>
              <a:buNone/>
            </a:pPr>
            <a:r>
              <a:rPr lang="en-US" sz="2500" b="1" dirty="0">
                <a:solidFill>
                  <a:srgbClr val="13202C"/>
                </a:solidFill>
                <a:latin typeface="Cambria" pitchFamily="34" charset="0"/>
                <a:ea typeface="Cambria" pitchFamily="34" charset="-122"/>
                <a:cs typeface="Cambria" pitchFamily="34" charset="-120"/>
              </a:rPr>
              <a:t>A fluid has Pr = 0.02. In a boundary layer along a heated plate, which layer is thicker?</a:t>
            </a:r>
            <a:endParaRPr lang="en-US" sz="2500" dirty="0"/>
          </a:p>
        </p:txBody>
      </p:sp>
      <p:sp>
        <p:nvSpPr>
          <p:cNvPr id="5" name="Shape 3"/>
          <p:cNvSpPr/>
          <p:nvPr/>
        </p:nvSpPr>
        <p:spPr>
          <a:xfrm>
            <a:off x="548640" y="2240280"/>
            <a:ext cx="11064240" cy="685800"/>
          </a:xfrm>
          <a:prstGeom prst="rect">
            <a:avLst/>
          </a:prstGeom>
          <a:solidFill>
            <a:srgbClr val="F4F6F8"/>
          </a:solidFill>
          <a:ln/>
        </p:spPr>
      </p:sp>
      <p:sp>
        <p:nvSpPr>
          <p:cNvPr id="6" name="Shape 4"/>
          <p:cNvSpPr/>
          <p:nvPr/>
        </p:nvSpPr>
        <p:spPr>
          <a:xfrm>
            <a:off x="868680" y="2414016"/>
            <a:ext cx="347472" cy="347472"/>
          </a:xfrm>
          <a:prstGeom prst="ellipse">
            <a:avLst/>
          </a:prstGeom>
          <a:solidFill>
            <a:srgbClr val="FFFFFF"/>
          </a:solidFill>
          <a:ln w="12700">
            <a:solidFill>
              <a:srgbClr val="C8D1D9"/>
            </a:solidFill>
            <a:prstDash val="solid"/>
          </a:ln>
        </p:spPr>
      </p:sp>
      <p:sp>
        <p:nvSpPr>
          <p:cNvPr id="7" name="Text 5"/>
          <p:cNvSpPr/>
          <p:nvPr/>
        </p:nvSpPr>
        <p:spPr>
          <a:xfrm>
            <a:off x="868680" y="2414016"/>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1463040" y="2295144"/>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 velocity boundary layer</a:t>
            </a:r>
            <a:endParaRPr lang="en-US" sz="1500" dirty="0"/>
          </a:p>
        </p:txBody>
      </p:sp>
      <p:sp>
        <p:nvSpPr>
          <p:cNvPr id="9" name="Shape 7"/>
          <p:cNvSpPr/>
          <p:nvPr/>
        </p:nvSpPr>
        <p:spPr>
          <a:xfrm>
            <a:off x="548640" y="3081528"/>
            <a:ext cx="11064240" cy="685800"/>
          </a:xfrm>
          <a:prstGeom prst="rect">
            <a:avLst/>
          </a:prstGeom>
          <a:solidFill>
            <a:srgbClr val="F4F6F8"/>
          </a:solidFill>
          <a:ln/>
        </p:spPr>
      </p:sp>
      <p:sp>
        <p:nvSpPr>
          <p:cNvPr id="10" name="Shape 8"/>
          <p:cNvSpPr/>
          <p:nvPr/>
        </p:nvSpPr>
        <p:spPr>
          <a:xfrm>
            <a:off x="868680" y="3255264"/>
            <a:ext cx="347472" cy="347472"/>
          </a:xfrm>
          <a:prstGeom prst="ellipse">
            <a:avLst/>
          </a:prstGeom>
          <a:solidFill>
            <a:srgbClr val="FFFFFF"/>
          </a:solidFill>
          <a:ln w="12700">
            <a:solidFill>
              <a:srgbClr val="C8D1D9"/>
            </a:solidFill>
            <a:prstDash val="solid"/>
          </a:ln>
        </p:spPr>
      </p:sp>
      <p:sp>
        <p:nvSpPr>
          <p:cNvPr id="11" name="Text 9"/>
          <p:cNvSpPr/>
          <p:nvPr/>
        </p:nvSpPr>
        <p:spPr>
          <a:xfrm>
            <a:off x="868680" y="3255264"/>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1463040" y="3136392"/>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 thermal boundary layer</a:t>
            </a:r>
            <a:endParaRPr lang="en-US" sz="1500" dirty="0"/>
          </a:p>
        </p:txBody>
      </p:sp>
      <p:sp>
        <p:nvSpPr>
          <p:cNvPr id="13" name="Shape 11"/>
          <p:cNvSpPr/>
          <p:nvPr/>
        </p:nvSpPr>
        <p:spPr>
          <a:xfrm>
            <a:off x="548640" y="3922776"/>
            <a:ext cx="11064240" cy="685800"/>
          </a:xfrm>
          <a:prstGeom prst="rect">
            <a:avLst/>
          </a:prstGeom>
          <a:solidFill>
            <a:srgbClr val="F4F6F8"/>
          </a:solidFill>
          <a:ln/>
        </p:spPr>
      </p:sp>
      <p:sp>
        <p:nvSpPr>
          <p:cNvPr id="14" name="Shape 12"/>
          <p:cNvSpPr/>
          <p:nvPr/>
        </p:nvSpPr>
        <p:spPr>
          <a:xfrm>
            <a:off x="868680" y="4096512"/>
            <a:ext cx="347472" cy="347472"/>
          </a:xfrm>
          <a:prstGeom prst="ellipse">
            <a:avLst/>
          </a:prstGeom>
          <a:solidFill>
            <a:srgbClr val="FFFFFF"/>
          </a:solidFill>
          <a:ln w="12700">
            <a:solidFill>
              <a:srgbClr val="C8D1D9"/>
            </a:solidFill>
            <a:prstDash val="solid"/>
          </a:ln>
        </p:spPr>
      </p:sp>
      <p:sp>
        <p:nvSpPr>
          <p:cNvPr id="15" name="Text 13"/>
          <p:cNvSpPr/>
          <p:nvPr/>
        </p:nvSpPr>
        <p:spPr>
          <a:xfrm>
            <a:off x="868680" y="4096512"/>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C</a:t>
            </a:r>
            <a:endParaRPr lang="en-US" sz="1300" dirty="0"/>
          </a:p>
        </p:txBody>
      </p:sp>
      <p:sp>
        <p:nvSpPr>
          <p:cNvPr id="16" name="Text 14"/>
          <p:cNvSpPr/>
          <p:nvPr/>
        </p:nvSpPr>
        <p:spPr>
          <a:xfrm>
            <a:off x="1463040" y="3977640"/>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They are the same thickness</a:t>
            </a:r>
            <a:endParaRPr lang="en-US" sz="1500" dirty="0"/>
          </a:p>
        </p:txBody>
      </p:sp>
      <p:sp>
        <p:nvSpPr>
          <p:cNvPr id="17" name="Shape 15"/>
          <p:cNvSpPr/>
          <p:nvPr/>
        </p:nvSpPr>
        <p:spPr>
          <a:xfrm>
            <a:off x="548640" y="4764024"/>
            <a:ext cx="11064240" cy="685800"/>
          </a:xfrm>
          <a:prstGeom prst="rect">
            <a:avLst/>
          </a:prstGeom>
          <a:solidFill>
            <a:srgbClr val="F4F6F8"/>
          </a:solidFill>
          <a:ln/>
        </p:spPr>
      </p:sp>
      <p:sp>
        <p:nvSpPr>
          <p:cNvPr id="18" name="Shape 16"/>
          <p:cNvSpPr/>
          <p:nvPr/>
        </p:nvSpPr>
        <p:spPr>
          <a:xfrm>
            <a:off x="868680" y="4937760"/>
            <a:ext cx="347472" cy="347472"/>
          </a:xfrm>
          <a:prstGeom prst="ellipse">
            <a:avLst/>
          </a:prstGeom>
          <a:solidFill>
            <a:srgbClr val="FFFFFF"/>
          </a:solidFill>
          <a:ln w="12700">
            <a:solidFill>
              <a:srgbClr val="C8D1D9"/>
            </a:solidFill>
            <a:prstDash val="solid"/>
          </a:ln>
        </p:spPr>
      </p:sp>
      <p:sp>
        <p:nvSpPr>
          <p:cNvPr id="19" name="Text 17"/>
          <p:cNvSpPr/>
          <p:nvPr/>
        </p:nvSpPr>
        <p:spPr>
          <a:xfrm>
            <a:off x="868680" y="4937760"/>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D</a:t>
            </a:r>
            <a:endParaRPr lang="en-US" sz="1300" dirty="0"/>
          </a:p>
        </p:txBody>
      </p:sp>
      <p:sp>
        <p:nvSpPr>
          <p:cNvPr id="20" name="Text 18"/>
          <p:cNvSpPr/>
          <p:nvPr/>
        </p:nvSpPr>
        <p:spPr>
          <a:xfrm>
            <a:off x="1463040" y="4818888"/>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It cannot be determined from Pr alone</a:t>
            </a:r>
            <a:endParaRPr lang="en-US" sz="1500" dirty="0"/>
          </a:p>
        </p:txBody>
      </p:sp>
      <p:sp>
        <p:nvSpPr>
          <p:cNvPr id="21" name="Text 19"/>
          <p:cNvSpPr/>
          <p:nvPr/>
        </p:nvSpPr>
        <p:spPr>
          <a:xfrm>
            <a:off x="548640" y="5833872"/>
            <a:ext cx="11064240" cy="365760"/>
          </a:xfrm>
          <a:prstGeom prst="rect">
            <a:avLst/>
          </a:prstGeom>
          <a:noFill/>
          <a:ln/>
        </p:spPr>
        <p:txBody>
          <a:bodyPr wrap="square" lIns="0" tIns="0" rIns="0" bIns="0" rtlCol="0" anchor="ctr"/>
          <a:lstStyle/>
          <a:p>
            <a:pPr indent="0" marL="0">
              <a:buNone/>
            </a:pPr>
            <a:r>
              <a:rPr lang="en-US" sz="1400" i="1" dirty="0">
                <a:solidFill>
                  <a:srgbClr val="6B7C8C"/>
                </a:solidFill>
                <a:latin typeface="Calibri" pitchFamily="34" charset="0"/>
                <a:ea typeface="Calibri" pitchFamily="34" charset="-122"/>
                <a:cs typeface="Calibri" pitchFamily="34" charset="-120"/>
              </a:rPr>
              <a:t>Pr = ν / α.  Penetration depth scales as the square root of the diffusivity.</a:t>
            </a:r>
            <a:endParaRPr lang="en-US" sz="1400" dirty="0"/>
          </a:p>
        </p:txBody>
      </p:sp>
      <p:sp>
        <p:nvSpPr>
          <p:cNvPr id="22" name="Text 2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54A8"/>
                </a:solidFill>
                <a:latin typeface="Calibri" pitchFamily="34" charset="0"/>
                <a:ea typeface="Calibri" pitchFamily="34" charset="-122"/>
                <a:cs typeface="Calibri" pitchFamily="34" charset="-120"/>
              </a:rPr>
              <a:t>CHECK YOUR UNDERSTANDING  ·  ANALYSE</a:t>
            </a:r>
            <a:endParaRPr lang="en-US" sz="1100" dirty="0"/>
          </a:p>
        </p:txBody>
      </p:sp>
      <p:sp>
        <p:nvSpPr>
          <p:cNvPr id="3" name="Text 1"/>
          <p:cNvSpPr/>
          <p:nvPr/>
        </p:nvSpPr>
        <p:spPr>
          <a:xfrm>
            <a:off x="548640" y="713232"/>
            <a:ext cx="1097280" cy="685800"/>
          </a:xfrm>
          <a:prstGeom prst="rect">
            <a:avLst/>
          </a:prstGeom>
          <a:noFill/>
          <a:ln/>
        </p:spPr>
        <p:txBody>
          <a:bodyPr wrap="square" lIns="0" tIns="0" rIns="0" bIns="0" rtlCol="0" anchor="ctr"/>
          <a:lstStyle/>
          <a:p>
            <a:pPr indent="0" marL="0">
              <a:buNone/>
            </a:pPr>
            <a:r>
              <a:rPr lang="en-US" sz="4000" b="1" dirty="0">
                <a:solidFill>
                  <a:srgbClr val="6B54A8"/>
                </a:solidFill>
                <a:latin typeface="Cambria" pitchFamily="34" charset="0"/>
                <a:ea typeface="Cambria" pitchFamily="34" charset="-122"/>
                <a:cs typeface="Cambria" pitchFamily="34" charset="-120"/>
              </a:rPr>
              <a:t>Q3</a:t>
            </a:r>
            <a:endParaRPr lang="en-US" sz="4000" dirty="0"/>
          </a:p>
        </p:txBody>
      </p:sp>
      <p:sp>
        <p:nvSpPr>
          <p:cNvPr id="4" name="Text 2"/>
          <p:cNvSpPr/>
          <p:nvPr/>
        </p:nvSpPr>
        <p:spPr>
          <a:xfrm>
            <a:off x="1691640" y="777240"/>
            <a:ext cx="9875520" cy="1051560"/>
          </a:xfrm>
          <a:prstGeom prst="rect">
            <a:avLst/>
          </a:prstGeom>
          <a:noFill/>
          <a:ln/>
        </p:spPr>
        <p:txBody>
          <a:bodyPr wrap="square" lIns="0" tIns="0" rIns="0" bIns="0" rtlCol="0" anchor="ctr"/>
          <a:lstStyle/>
          <a:p>
            <a:pPr indent="0" marL="0">
              <a:lnSpc>
                <a:spcPts val="3200"/>
              </a:lnSpc>
              <a:buNone/>
            </a:pPr>
            <a:r>
              <a:rPr lang="en-US" sz="2500" b="1" dirty="0">
                <a:solidFill>
                  <a:srgbClr val="13202C"/>
                </a:solidFill>
                <a:latin typeface="Cambria" pitchFamily="34" charset="0"/>
                <a:ea typeface="Cambria" pitchFamily="34" charset="-122"/>
                <a:cs typeface="Cambria" pitchFamily="34" charset="-120"/>
              </a:rPr>
              <a:t>Two gases share the same ν but differ in D</a:t>
            </a:r>
            <a:pPr indent="0" marL="0">
              <a:lnSpc>
                <a:spcPts val="3200"/>
              </a:lnSpc>
              <a:buNone/>
            </a:pPr>
            <a:r>
              <a:rPr lang="en-US" sz="2500" b="1" baseline="-40000" dirty="0">
                <a:solidFill>
                  <a:srgbClr val="13202C"/>
                </a:solidFill>
                <a:latin typeface="Cambria" pitchFamily="34" charset="0"/>
                <a:ea typeface="Cambria" pitchFamily="34" charset="-122"/>
                <a:cs typeface="Cambria" pitchFamily="34" charset="-120"/>
              </a:rPr>
              <a:t>AB</a:t>
            </a:r>
            <a:pPr indent="0" marL="0">
              <a:lnSpc>
                <a:spcPts val="3200"/>
              </a:lnSpc>
              <a:buNone/>
            </a:pPr>
            <a:r>
              <a:rPr lang="en-US" sz="2500" b="1" dirty="0">
                <a:solidFill>
                  <a:srgbClr val="13202C"/>
                </a:solidFill>
                <a:latin typeface="Cambria" pitchFamily="34" charset="0"/>
                <a:ea typeface="Cambria" pitchFamily="34" charset="-122"/>
                <a:cs typeface="Cambria" pitchFamily="34" charset="-120"/>
              </a:rPr>
              <a:t> by a factor of four. After the same elapsed time, how do their concentration fronts compare?</a:t>
            </a:r>
            <a:endParaRPr lang="en-US" sz="2500" dirty="0"/>
          </a:p>
        </p:txBody>
      </p:sp>
      <p:sp>
        <p:nvSpPr>
          <p:cNvPr id="5" name="Shape 3"/>
          <p:cNvSpPr/>
          <p:nvPr/>
        </p:nvSpPr>
        <p:spPr>
          <a:xfrm>
            <a:off x="548640" y="2240280"/>
            <a:ext cx="11064240" cy="685800"/>
          </a:xfrm>
          <a:prstGeom prst="rect">
            <a:avLst/>
          </a:prstGeom>
          <a:solidFill>
            <a:srgbClr val="F4F6F8"/>
          </a:solidFill>
          <a:ln/>
        </p:spPr>
      </p:sp>
      <p:sp>
        <p:nvSpPr>
          <p:cNvPr id="6" name="Shape 4"/>
          <p:cNvSpPr/>
          <p:nvPr/>
        </p:nvSpPr>
        <p:spPr>
          <a:xfrm>
            <a:off x="868680" y="2414016"/>
            <a:ext cx="347472" cy="347472"/>
          </a:xfrm>
          <a:prstGeom prst="ellipse">
            <a:avLst/>
          </a:prstGeom>
          <a:solidFill>
            <a:srgbClr val="FFFFFF"/>
          </a:solidFill>
          <a:ln w="12700">
            <a:solidFill>
              <a:srgbClr val="C8D1D9"/>
            </a:solidFill>
            <a:prstDash val="solid"/>
          </a:ln>
        </p:spPr>
      </p:sp>
      <p:sp>
        <p:nvSpPr>
          <p:cNvPr id="7" name="Text 5"/>
          <p:cNvSpPr/>
          <p:nvPr/>
        </p:nvSpPr>
        <p:spPr>
          <a:xfrm>
            <a:off x="868680" y="2414016"/>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1463040" y="2295144"/>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 faster front has travelled 4 times further</a:t>
            </a:r>
            <a:endParaRPr lang="en-US" sz="1500" dirty="0"/>
          </a:p>
        </p:txBody>
      </p:sp>
      <p:sp>
        <p:nvSpPr>
          <p:cNvPr id="9" name="Shape 7"/>
          <p:cNvSpPr/>
          <p:nvPr/>
        </p:nvSpPr>
        <p:spPr>
          <a:xfrm>
            <a:off x="548640" y="3081528"/>
            <a:ext cx="11064240" cy="685800"/>
          </a:xfrm>
          <a:prstGeom prst="rect">
            <a:avLst/>
          </a:prstGeom>
          <a:solidFill>
            <a:srgbClr val="F4F6F8"/>
          </a:solidFill>
          <a:ln/>
        </p:spPr>
      </p:sp>
      <p:sp>
        <p:nvSpPr>
          <p:cNvPr id="10" name="Shape 8"/>
          <p:cNvSpPr/>
          <p:nvPr/>
        </p:nvSpPr>
        <p:spPr>
          <a:xfrm>
            <a:off x="868680" y="3255264"/>
            <a:ext cx="347472" cy="347472"/>
          </a:xfrm>
          <a:prstGeom prst="ellipse">
            <a:avLst/>
          </a:prstGeom>
          <a:solidFill>
            <a:srgbClr val="FFFFFF"/>
          </a:solidFill>
          <a:ln w="12700">
            <a:solidFill>
              <a:srgbClr val="C8D1D9"/>
            </a:solidFill>
            <a:prstDash val="solid"/>
          </a:ln>
        </p:spPr>
      </p:sp>
      <p:sp>
        <p:nvSpPr>
          <p:cNvPr id="11" name="Text 9"/>
          <p:cNvSpPr/>
          <p:nvPr/>
        </p:nvSpPr>
        <p:spPr>
          <a:xfrm>
            <a:off x="868680" y="3255264"/>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1463040" y="3136392"/>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 faster front has travelled 2 times further</a:t>
            </a:r>
            <a:endParaRPr lang="en-US" sz="1500" dirty="0"/>
          </a:p>
        </p:txBody>
      </p:sp>
      <p:sp>
        <p:nvSpPr>
          <p:cNvPr id="13" name="Shape 11"/>
          <p:cNvSpPr/>
          <p:nvPr/>
        </p:nvSpPr>
        <p:spPr>
          <a:xfrm>
            <a:off x="548640" y="3922776"/>
            <a:ext cx="11064240" cy="685800"/>
          </a:xfrm>
          <a:prstGeom prst="rect">
            <a:avLst/>
          </a:prstGeom>
          <a:solidFill>
            <a:srgbClr val="F4F6F8"/>
          </a:solidFill>
          <a:ln/>
        </p:spPr>
      </p:sp>
      <p:sp>
        <p:nvSpPr>
          <p:cNvPr id="14" name="Shape 12"/>
          <p:cNvSpPr/>
          <p:nvPr/>
        </p:nvSpPr>
        <p:spPr>
          <a:xfrm>
            <a:off x="868680" y="4096512"/>
            <a:ext cx="347472" cy="347472"/>
          </a:xfrm>
          <a:prstGeom prst="ellipse">
            <a:avLst/>
          </a:prstGeom>
          <a:solidFill>
            <a:srgbClr val="FFFFFF"/>
          </a:solidFill>
          <a:ln w="12700">
            <a:solidFill>
              <a:srgbClr val="C8D1D9"/>
            </a:solidFill>
            <a:prstDash val="solid"/>
          </a:ln>
        </p:spPr>
      </p:sp>
      <p:sp>
        <p:nvSpPr>
          <p:cNvPr id="15" name="Text 13"/>
          <p:cNvSpPr/>
          <p:nvPr/>
        </p:nvSpPr>
        <p:spPr>
          <a:xfrm>
            <a:off x="868680" y="4096512"/>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C</a:t>
            </a:r>
            <a:endParaRPr lang="en-US" sz="1300" dirty="0"/>
          </a:p>
        </p:txBody>
      </p:sp>
      <p:sp>
        <p:nvSpPr>
          <p:cNvPr id="16" name="Text 14"/>
          <p:cNvSpPr/>
          <p:nvPr/>
        </p:nvSpPr>
        <p:spPr>
          <a:xfrm>
            <a:off x="1463040" y="3977640"/>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The faster front has travelled 16 times further</a:t>
            </a:r>
            <a:endParaRPr lang="en-US" sz="1500" dirty="0"/>
          </a:p>
        </p:txBody>
      </p:sp>
      <p:sp>
        <p:nvSpPr>
          <p:cNvPr id="17" name="Shape 15"/>
          <p:cNvSpPr/>
          <p:nvPr/>
        </p:nvSpPr>
        <p:spPr>
          <a:xfrm>
            <a:off x="548640" y="4764024"/>
            <a:ext cx="11064240" cy="685800"/>
          </a:xfrm>
          <a:prstGeom prst="rect">
            <a:avLst/>
          </a:prstGeom>
          <a:solidFill>
            <a:srgbClr val="F4F6F8"/>
          </a:solidFill>
          <a:ln/>
        </p:spPr>
      </p:sp>
      <p:sp>
        <p:nvSpPr>
          <p:cNvPr id="18" name="Shape 16"/>
          <p:cNvSpPr/>
          <p:nvPr/>
        </p:nvSpPr>
        <p:spPr>
          <a:xfrm>
            <a:off x="868680" y="4937760"/>
            <a:ext cx="347472" cy="347472"/>
          </a:xfrm>
          <a:prstGeom prst="ellipse">
            <a:avLst/>
          </a:prstGeom>
          <a:solidFill>
            <a:srgbClr val="FFFFFF"/>
          </a:solidFill>
          <a:ln w="12700">
            <a:solidFill>
              <a:srgbClr val="C8D1D9"/>
            </a:solidFill>
            <a:prstDash val="solid"/>
          </a:ln>
        </p:spPr>
      </p:sp>
      <p:sp>
        <p:nvSpPr>
          <p:cNvPr id="19" name="Text 17"/>
          <p:cNvSpPr/>
          <p:nvPr/>
        </p:nvSpPr>
        <p:spPr>
          <a:xfrm>
            <a:off x="868680" y="4937760"/>
            <a:ext cx="347472" cy="347472"/>
          </a:xfrm>
          <a:prstGeom prst="rect">
            <a:avLst/>
          </a:prstGeom>
          <a:noFill/>
          <a:ln/>
        </p:spPr>
        <p:txBody>
          <a:bodyPr wrap="square" lIns="0" tIns="0" rIns="0" bIns="0" rtlCol="0" anchor="ctr"/>
          <a:lstStyle/>
          <a:p>
            <a:pPr algn="ctr" indent="0" marL="0">
              <a:buNone/>
            </a:pPr>
            <a:r>
              <a:rPr lang="en-US" sz="1300" b="1" dirty="0">
                <a:solidFill>
                  <a:srgbClr val="6B7C8C"/>
                </a:solidFill>
                <a:latin typeface="Calibri" pitchFamily="34" charset="0"/>
                <a:ea typeface="Calibri" pitchFamily="34" charset="-122"/>
                <a:cs typeface="Calibri" pitchFamily="34" charset="-120"/>
              </a:rPr>
              <a:t>D</a:t>
            </a:r>
            <a:endParaRPr lang="en-US" sz="1300" dirty="0"/>
          </a:p>
        </p:txBody>
      </p:sp>
      <p:sp>
        <p:nvSpPr>
          <p:cNvPr id="20" name="Text 18"/>
          <p:cNvSpPr/>
          <p:nvPr/>
        </p:nvSpPr>
        <p:spPr>
          <a:xfrm>
            <a:off x="1463040" y="4818888"/>
            <a:ext cx="9966960" cy="566928"/>
          </a:xfrm>
          <a:prstGeom prst="rect">
            <a:avLst/>
          </a:prstGeom>
          <a:noFill/>
          <a:ln/>
        </p:spPr>
        <p:txBody>
          <a:bodyPr wrap="square" lIns="0" tIns="0" rIns="0" bIns="0" rtlCol="0" anchor="ctr"/>
          <a:lstStyle/>
          <a:p>
            <a:pPr indent="0" marL="0">
              <a:lnSpc>
                <a:spcPts val="2000"/>
              </a:lnSpc>
              <a:buNone/>
            </a:pPr>
            <a:r>
              <a:rPr lang="en-US" sz="1500" dirty="0">
                <a:solidFill>
                  <a:srgbClr val="2B3947"/>
                </a:solidFill>
                <a:latin typeface="Calibri" pitchFamily="34" charset="0"/>
                <a:ea typeface="Calibri" pitchFamily="34" charset="-122"/>
                <a:cs typeface="Calibri" pitchFamily="34" charset="-120"/>
              </a:rPr>
              <a:t>Both fronts have travelled the same distance</a:t>
            </a:r>
            <a:endParaRPr lang="en-US" sz="1500" dirty="0"/>
          </a:p>
        </p:txBody>
      </p:sp>
      <p:sp>
        <p:nvSpPr>
          <p:cNvPr id="21" name="Text 19"/>
          <p:cNvSpPr/>
          <p:nvPr/>
        </p:nvSpPr>
        <p:spPr>
          <a:xfrm>
            <a:off x="548640" y="5833872"/>
            <a:ext cx="11064240" cy="365760"/>
          </a:xfrm>
          <a:prstGeom prst="rect">
            <a:avLst/>
          </a:prstGeom>
          <a:noFill/>
          <a:ln/>
        </p:spPr>
        <p:txBody>
          <a:bodyPr wrap="square" lIns="0" tIns="0" rIns="0" bIns="0" rtlCol="0" anchor="ctr"/>
          <a:lstStyle/>
          <a:p>
            <a:pPr indent="0" marL="0">
              <a:buNone/>
            </a:pPr>
            <a:r>
              <a:rPr lang="en-US" sz="1400" i="1" dirty="0">
                <a:solidFill>
                  <a:srgbClr val="6B7C8C"/>
                </a:solidFill>
                <a:latin typeface="Calibri" pitchFamily="34" charset="0"/>
                <a:ea typeface="Calibri" pitchFamily="34" charset="-122"/>
                <a:cs typeface="Calibri" pitchFamily="34" charset="-120"/>
              </a:rPr>
              <a:t>Penetration depth ~ √(D·t).  Their Schmidt numbers differ by a factor of four.</a:t>
            </a:r>
            <a:endParaRPr lang="en-US" sz="1400" dirty="0"/>
          </a:p>
        </p:txBody>
      </p:sp>
      <p:sp>
        <p:nvSpPr>
          <p:cNvPr id="22" name="Text 20"/>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28600"/>
          </a:xfrm>
          <a:prstGeom prst="rect">
            <a:avLst/>
          </a:prstGeom>
          <a:noFill/>
          <a:ln/>
        </p:spPr>
        <p:txBody>
          <a:bodyPr wrap="square" lIns="0" tIns="0" rIns="0" bIns="0" rtlCol="0" anchor="ctr"/>
          <a:lstStyle/>
          <a:p>
            <a:pPr indent="0" marL="0">
              <a:buNone/>
            </a:pPr>
            <a:r>
              <a:rPr lang="en-US" sz="1100" b="1" spc="200" kern="0" dirty="0">
                <a:solidFill>
                  <a:srgbClr val="6B7C8C"/>
                </a:solidFill>
                <a:latin typeface="Calibri" pitchFamily="34" charset="0"/>
                <a:ea typeface="Calibri" pitchFamily="34" charset="-122"/>
                <a:cs typeface="Calibri" pitchFamily="34" charset="-120"/>
              </a:rPr>
              <a:t>CHAPTER 1 CLOSE</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13202C"/>
                </a:solidFill>
                <a:latin typeface="Cambria" pitchFamily="34" charset="0"/>
                <a:ea typeface="Cambria" pitchFamily="34" charset="-122"/>
                <a:cs typeface="Cambria" pitchFamily="34" charset="-120"/>
              </a:rPr>
              <a:t>What you should be able to do now</a:t>
            </a:r>
            <a:endParaRPr lang="en-US" sz="3200" dirty="0"/>
          </a:p>
        </p:txBody>
      </p:sp>
      <p:sp>
        <p:nvSpPr>
          <p:cNvPr id="4" name="Shape 2"/>
          <p:cNvSpPr/>
          <p:nvPr/>
        </p:nvSpPr>
        <p:spPr>
          <a:xfrm>
            <a:off x="548640" y="1691640"/>
            <a:ext cx="11064240" cy="914400"/>
          </a:xfrm>
          <a:prstGeom prst="rect">
            <a:avLst/>
          </a:prstGeom>
          <a:solidFill>
            <a:srgbClr val="F4F6F8"/>
          </a:solidFill>
          <a:ln/>
        </p:spPr>
      </p:sp>
      <p:sp>
        <p:nvSpPr>
          <p:cNvPr id="5" name="Text 3"/>
          <p:cNvSpPr/>
          <p:nvPr/>
        </p:nvSpPr>
        <p:spPr>
          <a:xfrm>
            <a:off x="868680" y="1819656"/>
            <a:ext cx="3291840" cy="658368"/>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State the general form</a:t>
            </a:r>
            <a:endParaRPr lang="en-US" sz="1700" dirty="0"/>
          </a:p>
        </p:txBody>
      </p:sp>
      <p:sp>
        <p:nvSpPr>
          <p:cNvPr id="6" name="Text 4"/>
          <p:cNvSpPr/>
          <p:nvPr/>
        </p:nvSpPr>
        <p:spPr>
          <a:xfrm>
            <a:off x="4343400" y="1819656"/>
            <a:ext cx="6949440" cy="658368"/>
          </a:xfrm>
          <a:prstGeom prst="rect">
            <a:avLst/>
          </a:prstGeom>
          <a:noFill/>
          <a:ln/>
        </p:spPr>
        <p:txBody>
          <a:bodyPr wrap="square" lIns="0" tIns="0" rIns="0" bIns="0" rtlCol="0" anchor="ctr"/>
          <a:lstStyle/>
          <a:p>
            <a:pPr indent="0" marL="0">
              <a:lnSpc>
                <a:spcPts val="1900"/>
              </a:lnSpc>
              <a:buNone/>
            </a:pPr>
            <a:r>
              <a:rPr lang="en-US" sz="1400" dirty="0">
                <a:solidFill>
                  <a:srgbClr val="2B3947"/>
                </a:solidFill>
                <a:latin typeface="Calibri" pitchFamily="34" charset="0"/>
                <a:ea typeface="Calibri" pitchFamily="34" charset="-122"/>
                <a:cs typeface="Calibri" pitchFamily="34" charset="-120"/>
              </a:rPr>
              <a:t>Flux is proportional to a gradient, scaled by a diffusivity, and directed down the gradient.</a:t>
            </a:r>
            <a:endParaRPr lang="en-US" sz="1400" dirty="0"/>
          </a:p>
        </p:txBody>
      </p:sp>
      <p:sp>
        <p:nvSpPr>
          <p:cNvPr id="7" name="Shape 5"/>
          <p:cNvSpPr/>
          <p:nvPr/>
        </p:nvSpPr>
        <p:spPr>
          <a:xfrm>
            <a:off x="548640" y="2788920"/>
            <a:ext cx="11064240" cy="914400"/>
          </a:xfrm>
          <a:prstGeom prst="rect">
            <a:avLst/>
          </a:prstGeom>
          <a:solidFill>
            <a:srgbClr val="F4F6F8"/>
          </a:solidFill>
          <a:ln/>
        </p:spPr>
      </p:sp>
      <p:sp>
        <p:nvSpPr>
          <p:cNvPr id="8" name="Text 6"/>
          <p:cNvSpPr/>
          <p:nvPr/>
        </p:nvSpPr>
        <p:spPr>
          <a:xfrm>
            <a:off x="868680" y="2916936"/>
            <a:ext cx="3291840" cy="658368"/>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Name the three laws</a:t>
            </a:r>
            <a:endParaRPr lang="en-US" sz="1700" dirty="0"/>
          </a:p>
        </p:txBody>
      </p:sp>
      <p:sp>
        <p:nvSpPr>
          <p:cNvPr id="9" name="Text 7"/>
          <p:cNvSpPr/>
          <p:nvPr/>
        </p:nvSpPr>
        <p:spPr>
          <a:xfrm>
            <a:off x="4343400" y="2916936"/>
            <a:ext cx="6949440" cy="658368"/>
          </a:xfrm>
          <a:prstGeom prst="rect">
            <a:avLst/>
          </a:prstGeom>
          <a:noFill/>
          <a:ln/>
        </p:spPr>
        <p:txBody>
          <a:bodyPr wrap="square" lIns="0" tIns="0" rIns="0" bIns="0" rtlCol="0" anchor="ctr"/>
          <a:lstStyle/>
          <a:p>
            <a:pPr indent="0" marL="0">
              <a:lnSpc>
                <a:spcPts val="1900"/>
              </a:lnSpc>
              <a:buNone/>
            </a:pPr>
            <a:r>
              <a:rPr lang="en-US" sz="1400" dirty="0">
                <a:solidFill>
                  <a:srgbClr val="2B3947"/>
                </a:solidFill>
                <a:latin typeface="Calibri" pitchFamily="34" charset="0"/>
                <a:ea typeface="Calibri" pitchFamily="34" charset="-122"/>
                <a:cs typeface="Calibri" pitchFamily="34" charset="-120"/>
              </a:rPr>
              <a:t>Newton's, Fourier's, and Fick's — and say what each one transports.</a:t>
            </a:r>
            <a:endParaRPr lang="en-US" sz="1400" dirty="0"/>
          </a:p>
        </p:txBody>
      </p:sp>
      <p:sp>
        <p:nvSpPr>
          <p:cNvPr id="10" name="Shape 8"/>
          <p:cNvSpPr/>
          <p:nvPr/>
        </p:nvSpPr>
        <p:spPr>
          <a:xfrm>
            <a:off x="548640" y="3886200"/>
            <a:ext cx="11064240" cy="914400"/>
          </a:xfrm>
          <a:prstGeom prst="rect">
            <a:avLst/>
          </a:prstGeom>
          <a:solidFill>
            <a:srgbClr val="F4F6F8"/>
          </a:solidFill>
          <a:ln/>
        </p:spPr>
      </p:sp>
      <p:sp>
        <p:nvSpPr>
          <p:cNvPr id="11" name="Text 9"/>
          <p:cNvSpPr/>
          <p:nvPr/>
        </p:nvSpPr>
        <p:spPr>
          <a:xfrm>
            <a:off x="868680" y="4014216"/>
            <a:ext cx="3291840" cy="658368"/>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Identify the mode</a:t>
            </a:r>
            <a:endParaRPr lang="en-US" sz="1700" dirty="0"/>
          </a:p>
        </p:txBody>
      </p:sp>
      <p:sp>
        <p:nvSpPr>
          <p:cNvPr id="12" name="Text 10"/>
          <p:cNvSpPr/>
          <p:nvPr/>
        </p:nvSpPr>
        <p:spPr>
          <a:xfrm>
            <a:off x="4343400" y="4014216"/>
            <a:ext cx="6949440" cy="658368"/>
          </a:xfrm>
          <a:prstGeom prst="rect">
            <a:avLst/>
          </a:prstGeom>
          <a:noFill/>
          <a:ln/>
        </p:spPr>
        <p:txBody>
          <a:bodyPr wrap="square" lIns="0" tIns="0" rIns="0" bIns="0" rtlCol="0" anchor="ctr"/>
          <a:lstStyle/>
          <a:p>
            <a:pPr indent="0" marL="0">
              <a:lnSpc>
                <a:spcPts val="1900"/>
              </a:lnSpc>
              <a:buNone/>
            </a:pPr>
            <a:r>
              <a:rPr lang="en-US" sz="1400" dirty="0">
                <a:solidFill>
                  <a:srgbClr val="2B3947"/>
                </a:solidFill>
                <a:latin typeface="Calibri" pitchFamily="34" charset="0"/>
                <a:ea typeface="Calibri" pitchFamily="34" charset="-122"/>
                <a:cs typeface="Calibri" pitchFamily="34" charset="-120"/>
              </a:rPr>
              <a:t>Given any unit operation, say which transport processes are active and why.</a:t>
            </a:r>
            <a:endParaRPr lang="en-US" sz="1400" dirty="0"/>
          </a:p>
        </p:txBody>
      </p:sp>
      <p:sp>
        <p:nvSpPr>
          <p:cNvPr id="13" name="Shape 11"/>
          <p:cNvSpPr/>
          <p:nvPr/>
        </p:nvSpPr>
        <p:spPr>
          <a:xfrm>
            <a:off x="548640" y="4983480"/>
            <a:ext cx="11064240" cy="914400"/>
          </a:xfrm>
          <a:prstGeom prst="rect">
            <a:avLst/>
          </a:prstGeom>
          <a:solidFill>
            <a:srgbClr val="F4F6F8"/>
          </a:solidFill>
          <a:ln/>
        </p:spPr>
      </p:sp>
      <p:sp>
        <p:nvSpPr>
          <p:cNvPr id="14" name="Text 12"/>
          <p:cNvSpPr/>
          <p:nvPr/>
        </p:nvSpPr>
        <p:spPr>
          <a:xfrm>
            <a:off x="868680" y="5111496"/>
            <a:ext cx="3291840" cy="658368"/>
          </a:xfrm>
          <a:prstGeom prst="rect">
            <a:avLst/>
          </a:prstGeom>
          <a:noFill/>
          <a:ln/>
        </p:spPr>
        <p:txBody>
          <a:bodyPr wrap="square" lIns="0" tIns="0" rIns="0" bIns="0" rtlCol="0" anchor="ctr"/>
          <a:lstStyle/>
          <a:p>
            <a:pPr indent="0" marL="0">
              <a:buNone/>
            </a:pPr>
            <a:r>
              <a:rPr lang="en-US" sz="1700" b="1" dirty="0">
                <a:solidFill>
                  <a:srgbClr val="13202C"/>
                </a:solidFill>
                <a:latin typeface="Cambria" pitchFamily="34" charset="0"/>
                <a:ea typeface="Cambria" pitchFamily="34" charset="-122"/>
                <a:cs typeface="Cambria" pitchFamily="34" charset="-120"/>
              </a:rPr>
              <a:t>Use the analogy</a:t>
            </a:r>
            <a:endParaRPr lang="en-US" sz="1700" dirty="0"/>
          </a:p>
        </p:txBody>
      </p:sp>
      <p:sp>
        <p:nvSpPr>
          <p:cNvPr id="15" name="Text 13"/>
          <p:cNvSpPr/>
          <p:nvPr/>
        </p:nvSpPr>
        <p:spPr>
          <a:xfrm>
            <a:off x="4343400" y="5111496"/>
            <a:ext cx="6949440" cy="658368"/>
          </a:xfrm>
          <a:prstGeom prst="rect">
            <a:avLst/>
          </a:prstGeom>
          <a:noFill/>
          <a:ln/>
        </p:spPr>
        <p:txBody>
          <a:bodyPr wrap="square" lIns="0" tIns="0" rIns="0" bIns="0" rtlCol="0" anchor="ctr"/>
          <a:lstStyle/>
          <a:p>
            <a:pPr indent="0" marL="0">
              <a:lnSpc>
                <a:spcPts val="1900"/>
              </a:lnSpc>
              <a:buNone/>
            </a:pPr>
            <a:r>
              <a:rPr lang="en-US" sz="1400" dirty="0">
                <a:solidFill>
                  <a:srgbClr val="2B3947"/>
                </a:solidFill>
                <a:latin typeface="Calibri" pitchFamily="34" charset="0"/>
                <a:ea typeface="Calibri" pitchFamily="34" charset="-122"/>
                <a:cs typeface="Calibri" pitchFamily="34" charset="-120"/>
              </a:rPr>
              <a:t>Recognise Pr, Sc, and Le as statements about which front travels further.</a:t>
            </a:r>
            <a:endParaRPr lang="en-US" sz="1400" dirty="0"/>
          </a:p>
        </p:txBody>
      </p:sp>
      <p:sp>
        <p:nvSpPr>
          <p:cNvPr id="16" name="Text 14"/>
          <p:cNvSpPr/>
          <p:nvPr/>
        </p:nvSpPr>
        <p:spPr>
          <a:xfrm>
            <a:off x="548640" y="6172200"/>
            <a:ext cx="7315200" cy="320040"/>
          </a:xfrm>
          <a:prstGeom prst="rect">
            <a:avLst/>
          </a:prstGeom>
          <a:noFill/>
          <a:ln/>
        </p:spPr>
        <p:txBody>
          <a:bodyPr wrap="square" lIns="0" tIns="0" rIns="0" bIns="0" rtlCol="0" anchor="ctr"/>
          <a:lstStyle/>
          <a:p>
            <a:pPr indent="0" marL="0">
              <a:buNone/>
            </a:pPr>
            <a:r>
              <a:rPr lang="en-US" sz="1300" b="1" u="sng" dirty="0">
                <a:solidFill>
                  <a:srgbClr val="2E8B9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 course tools: github.com/bawadi73/transport-phenomena</a:t>
            </a:r>
            <a:endParaRPr lang="en-US" sz="1300" dirty="0"/>
          </a:p>
        </p:txBody>
      </p:sp>
      <p:sp>
        <p:nvSpPr>
          <p:cNvPr id="17" name="Text 15"/>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02C"/>
        </a:solidFill>
      </p:bgPr>
    </p:bg>
    <p:spTree>
      <p:nvGrpSpPr>
        <p:cNvPr id="1" name=""/>
        <p:cNvGrpSpPr/>
        <p:nvPr/>
      </p:nvGrpSpPr>
      <p:grpSpPr>
        <a:xfrm>
          <a:off x="0" y="0"/>
          <a:ext cx="0" cy="0"/>
          <a:chOff x="0" y="0"/>
          <a:chExt cx="0" cy="0"/>
        </a:xfrm>
      </p:grpSpPr>
      <p:sp>
        <p:nvSpPr>
          <p:cNvPr id="2" name="Text 0"/>
          <p:cNvSpPr/>
          <p:nvPr/>
        </p:nvSpPr>
        <p:spPr>
          <a:xfrm>
            <a:off x="777240" y="777240"/>
            <a:ext cx="7315200" cy="274320"/>
          </a:xfrm>
          <a:prstGeom prst="rect">
            <a:avLst/>
          </a:prstGeom>
          <a:noFill/>
          <a:ln/>
        </p:spPr>
        <p:txBody>
          <a:bodyPr wrap="square" lIns="0" tIns="0" rIns="0" bIns="0" rtlCol="0" anchor="ctr"/>
          <a:lstStyle/>
          <a:p>
            <a:pPr indent="0" marL="0">
              <a:buNone/>
            </a:pPr>
            <a:r>
              <a:rPr lang="en-US" sz="1100" b="1" spc="200" kern="0" dirty="0">
                <a:solidFill>
                  <a:srgbClr val="5FC4D6"/>
                </a:solidFill>
                <a:latin typeface="Calibri" pitchFamily="34" charset="0"/>
                <a:ea typeface="Calibri" pitchFamily="34" charset="-122"/>
                <a:cs typeface="Calibri" pitchFamily="34" charset="-120"/>
              </a:rPr>
              <a:t>BEFORE THE NEXT LECTURE</a:t>
            </a:r>
            <a:endParaRPr lang="en-US" sz="1100" dirty="0"/>
          </a:p>
        </p:txBody>
      </p:sp>
      <p:sp>
        <p:nvSpPr>
          <p:cNvPr id="3" name="Text 1"/>
          <p:cNvSpPr/>
          <p:nvPr/>
        </p:nvSpPr>
        <p:spPr>
          <a:xfrm>
            <a:off x="777240" y="1188720"/>
            <a:ext cx="106070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Take-home exercise</a:t>
            </a:r>
            <a:endParaRPr lang="en-US" sz="3400" dirty="0"/>
          </a:p>
        </p:txBody>
      </p:sp>
      <p:sp>
        <p:nvSpPr>
          <p:cNvPr id="4" name="Text 2"/>
          <p:cNvSpPr/>
          <p:nvPr/>
        </p:nvSpPr>
        <p:spPr>
          <a:xfrm>
            <a:off x="777240" y="1920240"/>
            <a:ext cx="10607040" cy="457200"/>
          </a:xfrm>
          <a:prstGeom prst="rect">
            <a:avLst/>
          </a:prstGeom>
          <a:noFill/>
          <a:ln/>
        </p:spPr>
        <p:txBody>
          <a:bodyPr wrap="square" lIns="0" tIns="0" rIns="0" bIns="0" rtlCol="0" anchor="ctr"/>
          <a:lstStyle/>
          <a:p>
            <a:pPr indent="0" marL="0">
              <a:lnSpc>
                <a:spcPts val="2200"/>
              </a:lnSpc>
              <a:buNone/>
            </a:pPr>
            <a:r>
              <a:rPr lang="en-US" sz="1500" dirty="0">
                <a:solidFill>
                  <a:srgbClr val="A8B6C2"/>
                </a:solidFill>
                <a:latin typeface="Calibri" pitchFamily="34" charset="0"/>
                <a:ea typeface="Calibri" pitchFamily="34" charset="-122"/>
                <a:cs typeface="Calibri" pitchFamily="34" charset="-120"/>
              </a:rPr>
              <a:t>Both tools run in any browser, on a phone or a laptop. Nothing to install. Bring your written answers to the next session.</a:t>
            </a:r>
            <a:endParaRPr lang="en-US" sz="1500" dirty="0"/>
          </a:p>
        </p:txBody>
      </p:sp>
      <p:sp>
        <p:nvSpPr>
          <p:cNvPr id="5" name="Shape 3"/>
          <p:cNvSpPr/>
          <p:nvPr/>
        </p:nvSpPr>
        <p:spPr>
          <a:xfrm>
            <a:off x="777240" y="2606040"/>
            <a:ext cx="5212080" cy="2880360"/>
          </a:xfrm>
          <a:prstGeom prst="rect">
            <a:avLst/>
          </a:prstGeom>
          <a:solidFill>
            <a:srgbClr val="1E2E3D"/>
          </a:solidFill>
          <a:ln/>
        </p:spPr>
      </p:sp>
      <p:sp>
        <p:nvSpPr>
          <p:cNvPr id="6" name="Text 4"/>
          <p:cNvSpPr/>
          <p:nvPr/>
        </p:nvSpPr>
        <p:spPr>
          <a:xfrm>
            <a:off x="1097280" y="2834640"/>
            <a:ext cx="548640" cy="502920"/>
          </a:xfrm>
          <a:prstGeom prst="rect">
            <a:avLst/>
          </a:prstGeom>
          <a:noFill/>
          <a:ln/>
        </p:spPr>
        <p:txBody>
          <a:bodyPr wrap="square" lIns="0" tIns="0" rIns="0" bIns="0" rtlCol="0" anchor="ctr"/>
          <a:lstStyle/>
          <a:p>
            <a:pPr indent="0" marL="0">
              <a:buNone/>
            </a:pPr>
            <a:r>
              <a:rPr lang="en-US" sz="3000" b="1" dirty="0">
                <a:solidFill>
                  <a:srgbClr val="5FC4D6"/>
                </a:solidFill>
                <a:latin typeface="Cambria" pitchFamily="34" charset="0"/>
                <a:ea typeface="Cambria" pitchFamily="34" charset="-122"/>
                <a:cs typeface="Cambria" pitchFamily="34" charset="-120"/>
              </a:rPr>
              <a:t>A</a:t>
            </a:r>
            <a:endParaRPr lang="en-US" sz="3000" dirty="0"/>
          </a:p>
        </p:txBody>
      </p:sp>
      <p:sp>
        <p:nvSpPr>
          <p:cNvPr id="7" name="Text 5"/>
          <p:cNvSpPr/>
          <p:nvPr/>
        </p:nvSpPr>
        <p:spPr>
          <a:xfrm>
            <a:off x="1737360" y="2880360"/>
            <a:ext cx="402336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transport analogy widget</a:t>
            </a:r>
            <a:endParaRPr lang="en-US" sz="1700" dirty="0"/>
          </a:p>
        </p:txBody>
      </p:sp>
      <p:sp>
        <p:nvSpPr>
          <p:cNvPr id="8" name="Text 6"/>
          <p:cNvSpPr/>
          <p:nvPr/>
        </p:nvSpPr>
        <p:spPr>
          <a:xfrm>
            <a:off x="1097280" y="3474720"/>
            <a:ext cx="4617720" cy="18288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Set the gradient to zero. Record what happens to all three fluxes, and explain why in one sentence.</a:t>
            </a:r>
            <a:endParaRPr lang="en-US" sz="1300" dirty="0"/>
          </a:p>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Now raise the diffusivity to maximum with the gradient still at zero. Does anything change? Why not?</a:t>
            </a:r>
            <a:endParaRPr lang="en-US" sz="1300" dirty="0"/>
          </a:p>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Write the general form of the flux law from memory, without looking at your notes.</a:t>
            </a:r>
            <a:endParaRPr lang="en-US" sz="1300" dirty="0"/>
          </a:p>
        </p:txBody>
      </p:sp>
      <p:sp>
        <p:nvSpPr>
          <p:cNvPr id="9" name="Shape 7"/>
          <p:cNvSpPr/>
          <p:nvPr/>
        </p:nvSpPr>
        <p:spPr>
          <a:xfrm>
            <a:off x="6309360" y="2606040"/>
            <a:ext cx="5074920" cy="2880360"/>
          </a:xfrm>
          <a:prstGeom prst="rect">
            <a:avLst/>
          </a:prstGeom>
          <a:solidFill>
            <a:srgbClr val="1E2E3D"/>
          </a:solidFill>
          <a:ln/>
        </p:spPr>
      </p:sp>
      <p:sp>
        <p:nvSpPr>
          <p:cNvPr id="10" name="Text 8"/>
          <p:cNvSpPr/>
          <p:nvPr/>
        </p:nvSpPr>
        <p:spPr>
          <a:xfrm>
            <a:off x="6629400" y="2834640"/>
            <a:ext cx="548640" cy="502920"/>
          </a:xfrm>
          <a:prstGeom prst="rect">
            <a:avLst/>
          </a:prstGeom>
          <a:noFill/>
          <a:ln/>
        </p:spPr>
        <p:txBody>
          <a:bodyPr wrap="square" lIns="0" tIns="0" rIns="0" bIns="0" rtlCol="0" anchor="ctr"/>
          <a:lstStyle/>
          <a:p>
            <a:pPr indent="0" marL="0">
              <a:buNone/>
            </a:pPr>
            <a:r>
              <a:rPr lang="en-US" sz="3000" b="1" dirty="0">
                <a:solidFill>
                  <a:srgbClr val="A78FE0"/>
                </a:solidFill>
                <a:latin typeface="Cambria" pitchFamily="34" charset="0"/>
                <a:ea typeface="Cambria" pitchFamily="34" charset="-122"/>
                <a:cs typeface="Cambria" pitchFamily="34" charset="-120"/>
              </a:rPr>
              <a:t>B</a:t>
            </a:r>
            <a:endParaRPr lang="en-US" sz="3000" dirty="0"/>
          </a:p>
        </p:txBody>
      </p:sp>
      <p:sp>
        <p:nvSpPr>
          <p:cNvPr id="11" name="Text 9"/>
          <p:cNvSpPr/>
          <p:nvPr/>
        </p:nvSpPr>
        <p:spPr>
          <a:xfrm>
            <a:off x="7269480" y="2880360"/>
            <a:ext cx="393192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diffusivity race</a:t>
            </a:r>
            <a:endParaRPr lang="en-US" sz="1700" dirty="0"/>
          </a:p>
        </p:txBody>
      </p:sp>
      <p:sp>
        <p:nvSpPr>
          <p:cNvPr id="12" name="Text 10"/>
          <p:cNvSpPr/>
          <p:nvPr/>
        </p:nvSpPr>
        <p:spPr>
          <a:xfrm>
            <a:off x="6629400" y="3474720"/>
            <a:ext cx="4480560" cy="18288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Run all four fluids. Tabulate Pr, Sc, and Le for each one.</a:t>
            </a:r>
            <a:endParaRPr lang="en-US" sz="1300" dirty="0"/>
          </a:p>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Identify which fluid has Pr below 1, and explain physically why that is so.</a:t>
            </a:r>
            <a:endParaRPr lang="en-US" sz="1300" dirty="0"/>
          </a:p>
          <a:p>
            <a:pPr marL="342900" indent="-342900">
              <a:lnSpc>
                <a:spcPts val="1800"/>
              </a:lnSpc>
              <a:spcAft>
                <a:spcPts val="700"/>
              </a:spcAft>
              <a:buSzPct val="100000"/>
              <a:buChar char="•"/>
            </a:pPr>
            <a:r>
              <a:rPr lang="en-US" sz="1300" dirty="0">
                <a:solidFill>
                  <a:srgbClr val="C6CFD8"/>
                </a:solidFill>
                <a:latin typeface="Calibri" pitchFamily="34" charset="0"/>
                <a:ea typeface="Calibri" pitchFamily="34" charset="-122"/>
                <a:cs typeface="Calibri" pitchFamily="34" charset="-120"/>
              </a:rPr>
              <a:t>Engine oil: after 60 s, how many times further has momentum penetrated than mass? Verify against the square-root scaling.</a:t>
            </a:r>
            <a:endParaRPr lang="en-US" sz="1300" dirty="0"/>
          </a:p>
        </p:txBody>
      </p:sp>
      <p:sp>
        <p:nvSpPr>
          <p:cNvPr id="13" name="Text 11"/>
          <p:cNvSpPr/>
          <p:nvPr/>
        </p:nvSpPr>
        <p:spPr>
          <a:xfrm>
            <a:off x="777240" y="5806440"/>
            <a:ext cx="7315200" cy="320040"/>
          </a:xfrm>
          <a:prstGeom prst="rect">
            <a:avLst/>
          </a:prstGeom>
          <a:noFill/>
          <a:ln/>
        </p:spPr>
        <p:txBody>
          <a:bodyPr wrap="square" lIns="0" tIns="0" rIns="0" bIns="0" rtlCol="0" anchor="ctr"/>
          <a:lstStyle/>
          <a:p>
            <a:pPr indent="0" marL="0">
              <a:buNone/>
            </a:pPr>
            <a:r>
              <a:rPr lang="en-US" sz="1400" b="1" u="sng" dirty="0">
                <a:solidFill>
                  <a:srgbClr val="5FC4D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Both tools:  github.com/bawadi73/transport-phenomena</a:t>
            </a:r>
            <a:endParaRPr lang="en-US" sz="1400" dirty="0"/>
          </a:p>
        </p:txBody>
      </p:sp>
      <p:sp>
        <p:nvSpPr>
          <p:cNvPr id="14" name="Text 12"/>
          <p:cNvSpPr/>
          <p:nvPr/>
        </p:nvSpPr>
        <p:spPr>
          <a:xfrm>
            <a:off x="11430000" y="6263640"/>
            <a:ext cx="365760" cy="274320"/>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2026-08-25T02:31:52Z</dcterms:created>
  <dcterms:modified xsi:type="dcterms:W3CDTF">2026-08-25T02:31:52Z</dcterms:modified>
</cp:coreProperties>
</file>